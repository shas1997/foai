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" charset="1" panose="02000503000000020004"/>
      <p:regular r:id="rId14"/>
    </p:embeddedFont>
    <p:embeddedFont>
      <p:font typeface="Inter Bold" charset="1" panose="02000503000000020004"/>
      <p:regular r:id="rId15"/>
    </p:embeddedFont>
    <p:embeddedFont>
      <p:font typeface="Inter Semi-Bold" charset="1" panose="02000503000000020004"/>
      <p:regular r:id="rId16"/>
    </p:embeddedFont>
    <p:embeddedFont>
      <p:font typeface="Open Sans" charset="1" panose="00000000000000000000"/>
      <p:regular r:id="rId17"/>
    </p:embeddedFont>
    <p:embeddedFont>
      <p:font typeface="Trade Gothic Condensed Bold" charset="1" panose="020B0806040303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280483" y="-70162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95785" y="6323294"/>
            <a:ext cx="7348735" cy="134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3890">
                <a:solidFill>
                  <a:srgbClr val="002B58"/>
                </a:solidFill>
                <a:latin typeface="Inter"/>
                <a:ea typeface="Inter"/>
                <a:cs typeface="Inter"/>
                <a:sym typeface="Inter"/>
              </a:rPr>
              <a:t>By : Shasmeen Syed Thameem</a:t>
            </a:r>
          </a:p>
          <a:p>
            <a:pPr algn="l">
              <a:lnSpc>
                <a:spcPts val="5447"/>
              </a:lnSpc>
            </a:pPr>
            <a:r>
              <a:rPr lang="en-US" sz="3890">
                <a:solidFill>
                  <a:srgbClr val="002B58"/>
                </a:solidFill>
                <a:latin typeface="Inter"/>
                <a:ea typeface="Inter"/>
                <a:cs typeface="Inter"/>
                <a:sym typeface="Inter"/>
              </a:rPr>
              <a:t>         Sherin Katherina D      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43480" y="2840169"/>
            <a:ext cx="12801040" cy="277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8"/>
              </a:lnSpc>
            </a:pPr>
            <a:r>
              <a:rPr lang="en-US" b="true" sz="7934">
                <a:solidFill>
                  <a:srgbClr val="002B58"/>
                </a:solidFill>
                <a:latin typeface="Inter Bold"/>
                <a:ea typeface="Inter Bold"/>
                <a:cs typeface="Inter Bold"/>
                <a:sym typeface="Inter Bold"/>
              </a:rPr>
              <a:t>CAMPUS NAVIGATION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2509394" y="-1594186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1"/>
                </a:moveTo>
                <a:lnTo>
                  <a:pt x="9295205" y="5948931"/>
                </a:lnTo>
                <a:lnTo>
                  <a:pt x="9295205" y="0"/>
                </a:lnTo>
                <a:lnTo>
                  <a:pt x="0" y="0"/>
                </a:lnTo>
                <a:lnTo>
                  <a:pt x="0" y="594893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60604" y="1703891"/>
            <a:ext cx="7703316" cy="7943098"/>
          </a:xfrm>
          <a:custGeom>
            <a:avLst/>
            <a:gdLst/>
            <a:ahLst/>
            <a:cxnLst/>
            <a:rect r="r" b="b" t="t" l="l"/>
            <a:pathLst>
              <a:path h="7943098" w="7703316">
                <a:moveTo>
                  <a:pt x="0" y="0"/>
                </a:moveTo>
                <a:lnTo>
                  <a:pt x="7703316" y="0"/>
                </a:lnTo>
                <a:lnTo>
                  <a:pt x="7703316" y="7943098"/>
                </a:lnTo>
                <a:lnTo>
                  <a:pt x="0" y="79430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2245" t="-13817" r="-3073" b="-364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3888" y="2110476"/>
            <a:ext cx="8518519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Navigating a large college campus can be challenging</a:t>
            </a: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 for students, faculty, staff, and visitors, especially when they are unfamiliar with the campus layout.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2125" y="3779401"/>
            <a:ext cx="8518519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A college campus consists of </a:t>
            </a:r>
            <a:r>
              <a:rPr lang="en-US" b="true" sz="2499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multiple buildings, pathways, departments, and facilities</a:t>
            </a: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2125" y="5011301"/>
            <a:ext cx="8518519" cy="85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Traditional campus maps provide only </a:t>
            </a:r>
            <a:r>
              <a:rPr lang="en-US" b="true" sz="2499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static location information</a:t>
            </a: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 and do not suggest the most efficient route.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2125" y="6243202"/>
            <a:ext cx="8518519" cy="172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This project introduces an </a:t>
            </a:r>
            <a:r>
              <a:rPr lang="en-US" b="true" sz="2499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AI-based navigation system</a:t>
            </a: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 that represents the campus as a graph and uses the </a:t>
            </a:r>
            <a:r>
              <a:rPr lang="en-US" b="true" sz="2499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A* SearchAlgorithm</a:t>
            </a: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 to find an optimal path between two locations.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2125" y="8351403"/>
            <a:ext cx="8518519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The system aims to provide </a:t>
            </a:r>
            <a:r>
              <a:rPr lang="en-US" b="true" sz="2499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fast, accurate, and user-friendly route guidance</a:t>
            </a: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 for campus navigation.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38671" y="103174"/>
            <a:ext cx="12951416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2019238" y="-1144672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6" y="5948932"/>
                </a:lnTo>
                <a:lnTo>
                  <a:pt x="9295206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36714" y="622357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74681" y="4804260"/>
            <a:ext cx="3887928" cy="2278187"/>
            <a:chOff x="0" y="0"/>
            <a:chExt cx="1023981" cy="6000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3981" cy="600016"/>
            </a:xfrm>
            <a:custGeom>
              <a:avLst/>
              <a:gdLst/>
              <a:ahLst/>
              <a:cxnLst/>
              <a:rect r="r" b="b" t="t" l="l"/>
              <a:pathLst>
                <a:path h="600016" w="1023981">
                  <a:moveTo>
                    <a:pt x="101555" y="0"/>
                  </a:moveTo>
                  <a:lnTo>
                    <a:pt x="922426" y="0"/>
                  </a:lnTo>
                  <a:cubicBezTo>
                    <a:pt x="978513" y="0"/>
                    <a:pt x="1023981" y="45468"/>
                    <a:pt x="1023981" y="101555"/>
                  </a:cubicBezTo>
                  <a:lnTo>
                    <a:pt x="1023981" y="498461"/>
                  </a:lnTo>
                  <a:cubicBezTo>
                    <a:pt x="1023981" y="554549"/>
                    <a:pt x="978513" y="600016"/>
                    <a:pt x="922426" y="600016"/>
                  </a:cubicBezTo>
                  <a:lnTo>
                    <a:pt x="101555" y="600016"/>
                  </a:lnTo>
                  <a:cubicBezTo>
                    <a:pt x="45468" y="600016"/>
                    <a:pt x="0" y="554549"/>
                    <a:pt x="0" y="498461"/>
                  </a:cubicBezTo>
                  <a:lnTo>
                    <a:pt x="0" y="101555"/>
                  </a:lnTo>
                  <a:cubicBezTo>
                    <a:pt x="0" y="45468"/>
                    <a:pt x="45468" y="0"/>
                    <a:pt x="101555" y="0"/>
                  </a:cubicBezTo>
                  <a:close/>
                </a:path>
              </a:pathLst>
            </a:custGeom>
            <a:solidFill>
              <a:srgbClr val="FEE2D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23981" cy="638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4681" y="7253896"/>
            <a:ext cx="3887928" cy="2401294"/>
            <a:chOff x="0" y="0"/>
            <a:chExt cx="1023981" cy="632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3981" cy="632440"/>
            </a:xfrm>
            <a:custGeom>
              <a:avLst/>
              <a:gdLst/>
              <a:ahLst/>
              <a:cxnLst/>
              <a:rect r="r" b="b" t="t" l="l"/>
              <a:pathLst>
                <a:path h="632440" w="1023981">
                  <a:moveTo>
                    <a:pt x="101555" y="0"/>
                  </a:moveTo>
                  <a:lnTo>
                    <a:pt x="922426" y="0"/>
                  </a:lnTo>
                  <a:cubicBezTo>
                    <a:pt x="978513" y="0"/>
                    <a:pt x="1023981" y="45468"/>
                    <a:pt x="1023981" y="101555"/>
                  </a:cubicBezTo>
                  <a:lnTo>
                    <a:pt x="1023981" y="530885"/>
                  </a:lnTo>
                  <a:cubicBezTo>
                    <a:pt x="1023981" y="586972"/>
                    <a:pt x="978513" y="632440"/>
                    <a:pt x="922426" y="632440"/>
                  </a:cubicBezTo>
                  <a:lnTo>
                    <a:pt x="101555" y="632440"/>
                  </a:lnTo>
                  <a:cubicBezTo>
                    <a:pt x="45468" y="632440"/>
                    <a:pt x="0" y="586972"/>
                    <a:pt x="0" y="530885"/>
                  </a:cubicBezTo>
                  <a:lnTo>
                    <a:pt x="0" y="101555"/>
                  </a:lnTo>
                  <a:cubicBezTo>
                    <a:pt x="0" y="45468"/>
                    <a:pt x="45468" y="0"/>
                    <a:pt x="101555" y="0"/>
                  </a:cubicBezTo>
                  <a:close/>
                </a:path>
              </a:pathLst>
            </a:custGeom>
            <a:solidFill>
              <a:srgbClr val="FEF4D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23981" cy="670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265634" y="7253896"/>
            <a:ext cx="3887928" cy="2401294"/>
            <a:chOff x="0" y="0"/>
            <a:chExt cx="1023981" cy="632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3981" cy="632440"/>
            </a:xfrm>
            <a:custGeom>
              <a:avLst/>
              <a:gdLst/>
              <a:ahLst/>
              <a:cxnLst/>
              <a:rect r="r" b="b" t="t" l="l"/>
              <a:pathLst>
                <a:path h="632440" w="1023981">
                  <a:moveTo>
                    <a:pt x="101555" y="0"/>
                  </a:moveTo>
                  <a:lnTo>
                    <a:pt x="922426" y="0"/>
                  </a:lnTo>
                  <a:cubicBezTo>
                    <a:pt x="978513" y="0"/>
                    <a:pt x="1023981" y="45468"/>
                    <a:pt x="1023981" y="101555"/>
                  </a:cubicBezTo>
                  <a:lnTo>
                    <a:pt x="1023981" y="530885"/>
                  </a:lnTo>
                  <a:cubicBezTo>
                    <a:pt x="1023981" y="586972"/>
                    <a:pt x="978513" y="632440"/>
                    <a:pt x="922426" y="632440"/>
                  </a:cubicBezTo>
                  <a:lnTo>
                    <a:pt x="101555" y="632440"/>
                  </a:lnTo>
                  <a:cubicBezTo>
                    <a:pt x="45468" y="632440"/>
                    <a:pt x="0" y="586972"/>
                    <a:pt x="0" y="530885"/>
                  </a:cubicBezTo>
                  <a:lnTo>
                    <a:pt x="0" y="101555"/>
                  </a:lnTo>
                  <a:cubicBezTo>
                    <a:pt x="0" y="45468"/>
                    <a:pt x="45468" y="0"/>
                    <a:pt x="101555" y="0"/>
                  </a:cubicBezTo>
                  <a:close/>
                </a:path>
              </a:pathLst>
            </a:custGeom>
            <a:solidFill>
              <a:srgbClr val="F6E4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23981" cy="670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65634" y="4804260"/>
            <a:ext cx="4058116" cy="2278187"/>
            <a:chOff x="0" y="0"/>
            <a:chExt cx="1068804" cy="6000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8804" cy="600016"/>
            </a:xfrm>
            <a:custGeom>
              <a:avLst/>
              <a:gdLst/>
              <a:ahLst/>
              <a:cxnLst/>
              <a:rect r="r" b="b" t="t" l="l"/>
              <a:pathLst>
                <a:path h="600016" w="1068804">
                  <a:moveTo>
                    <a:pt x="97296" y="0"/>
                  </a:moveTo>
                  <a:lnTo>
                    <a:pt x="971508" y="0"/>
                  </a:lnTo>
                  <a:cubicBezTo>
                    <a:pt x="997313" y="0"/>
                    <a:pt x="1022060" y="10251"/>
                    <a:pt x="1040307" y="28497"/>
                  </a:cubicBezTo>
                  <a:cubicBezTo>
                    <a:pt x="1058553" y="46744"/>
                    <a:pt x="1068804" y="71491"/>
                    <a:pt x="1068804" y="97296"/>
                  </a:cubicBezTo>
                  <a:lnTo>
                    <a:pt x="1068804" y="502720"/>
                  </a:lnTo>
                  <a:cubicBezTo>
                    <a:pt x="1068804" y="556455"/>
                    <a:pt x="1025243" y="600016"/>
                    <a:pt x="971508" y="600016"/>
                  </a:cubicBezTo>
                  <a:lnTo>
                    <a:pt x="97296" y="600016"/>
                  </a:lnTo>
                  <a:cubicBezTo>
                    <a:pt x="43561" y="600016"/>
                    <a:pt x="0" y="556455"/>
                    <a:pt x="0" y="502720"/>
                  </a:cubicBezTo>
                  <a:lnTo>
                    <a:pt x="0" y="97296"/>
                  </a:lnTo>
                  <a:cubicBezTo>
                    <a:pt x="0" y="43561"/>
                    <a:pt x="43561" y="0"/>
                    <a:pt x="97296" y="0"/>
                  </a:cubicBezTo>
                  <a:close/>
                </a:path>
              </a:pathLst>
            </a:custGeom>
            <a:solidFill>
              <a:srgbClr val="DBFED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68804" cy="64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606726" y="2644593"/>
            <a:ext cx="7968200" cy="7124522"/>
          </a:xfrm>
          <a:custGeom>
            <a:avLst/>
            <a:gdLst/>
            <a:ahLst/>
            <a:cxnLst/>
            <a:rect r="r" b="b" t="t" l="l"/>
            <a:pathLst>
              <a:path h="7124522" w="7968200">
                <a:moveTo>
                  <a:pt x="0" y="0"/>
                </a:moveTo>
                <a:lnTo>
                  <a:pt x="7968199" y="0"/>
                </a:lnTo>
                <a:lnTo>
                  <a:pt x="7968199" y="7124522"/>
                </a:lnTo>
                <a:lnTo>
                  <a:pt x="0" y="71245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5263" t="-15541" r="-3602" b="-2214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438671" y="314839"/>
            <a:ext cx="12951416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9650" y="2467460"/>
            <a:ext cx="8331005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Large college campuses contain </a:t>
            </a:r>
            <a:r>
              <a:rPr lang="en-US" sz="2499" b="true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multiple buildings, pathways, departments, and facilities</a:t>
            </a: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. Students, faculty, staff, and visitors may face difficulty finding the most efficient route to a destination, especially when they are unfamiliar with the campus layout.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1779" y="5066639"/>
            <a:ext cx="333252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UNFAMILIAR LOCATIONS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9836" y="5524474"/>
            <a:ext cx="3234471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1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ew students and visitors may find it difficult to locate buildings, departments, and facilities.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69396" y="5542854"/>
            <a:ext cx="3636290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D0D0D"/>
                </a:solidFill>
                <a:latin typeface="Open Sans"/>
                <a:ea typeface="Open Sans"/>
                <a:cs typeface="Open Sans"/>
                <a:sym typeface="Open Sans"/>
              </a:rPr>
              <a:t>A source and destination can be connected through several pathways, making manual navigation confusing.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69396" y="5066639"/>
            <a:ext cx="333252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MULTIPLE ROUTES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65634" y="7415961"/>
            <a:ext cx="388792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STATIC MAPS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17273" y="7869986"/>
            <a:ext cx="3384652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Traditional campus maps show the locations of buildings but do not automatically suggest the most efficient route.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4306" y="7415961"/>
            <a:ext cx="388792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PATHWAY RESTRICTIONS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8552" y="7869986"/>
            <a:ext cx="3300188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Certain paths may be blocked due to construction, maintenance, or restricted access, requiring alternative routes.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73278" y="5039691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2269514" y="-186010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1"/>
                </a:moveTo>
                <a:lnTo>
                  <a:pt x="9295205" y="5948931"/>
                </a:lnTo>
                <a:lnTo>
                  <a:pt x="9295205" y="0"/>
                </a:lnTo>
                <a:lnTo>
                  <a:pt x="0" y="0"/>
                </a:lnTo>
                <a:lnTo>
                  <a:pt x="0" y="594893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03641" y="4354745"/>
            <a:ext cx="2342797" cy="4414863"/>
            <a:chOff x="0" y="0"/>
            <a:chExt cx="3123729" cy="588648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3123729" cy="5886484"/>
              <a:chOff x="0" y="0"/>
              <a:chExt cx="716571" cy="135033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16571" cy="1350336"/>
              </a:xfrm>
              <a:custGeom>
                <a:avLst/>
                <a:gdLst/>
                <a:ahLst/>
                <a:cxnLst/>
                <a:rect r="r" b="b" t="t" l="l"/>
                <a:pathLst>
                  <a:path h="1350336" w="716571">
                    <a:moveTo>
                      <a:pt x="168533" y="0"/>
                    </a:moveTo>
                    <a:lnTo>
                      <a:pt x="548038" y="0"/>
                    </a:lnTo>
                    <a:cubicBezTo>
                      <a:pt x="592736" y="0"/>
                      <a:pt x="635603" y="17756"/>
                      <a:pt x="667209" y="49362"/>
                    </a:cubicBezTo>
                    <a:cubicBezTo>
                      <a:pt x="698815" y="80968"/>
                      <a:pt x="716571" y="123835"/>
                      <a:pt x="716571" y="168533"/>
                    </a:cubicBezTo>
                    <a:lnTo>
                      <a:pt x="716571" y="1181804"/>
                    </a:lnTo>
                    <a:cubicBezTo>
                      <a:pt x="716571" y="1226501"/>
                      <a:pt x="698815" y="1269368"/>
                      <a:pt x="667209" y="1300974"/>
                    </a:cubicBezTo>
                    <a:cubicBezTo>
                      <a:pt x="635603" y="1332580"/>
                      <a:pt x="592736" y="1350336"/>
                      <a:pt x="548038" y="1350336"/>
                    </a:cubicBezTo>
                    <a:lnTo>
                      <a:pt x="168533" y="1350336"/>
                    </a:lnTo>
                    <a:cubicBezTo>
                      <a:pt x="123835" y="1350336"/>
                      <a:pt x="80968" y="1332580"/>
                      <a:pt x="49362" y="1300974"/>
                    </a:cubicBezTo>
                    <a:cubicBezTo>
                      <a:pt x="17756" y="1269368"/>
                      <a:pt x="0" y="1226501"/>
                      <a:pt x="0" y="1181804"/>
                    </a:cubicBezTo>
                    <a:lnTo>
                      <a:pt x="0" y="168533"/>
                    </a:lnTo>
                    <a:cubicBezTo>
                      <a:pt x="0" y="123835"/>
                      <a:pt x="17756" y="80968"/>
                      <a:pt x="49362" y="49362"/>
                    </a:cubicBezTo>
                    <a:cubicBezTo>
                      <a:pt x="80968" y="17756"/>
                      <a:pt x="123835" y="0"/>
                      <a:pt x="168533" y="0"/>
                    </a:cubicBezTo>
                    <a:close/>
                  </a:path>
                </a:pathLst>
              </a:custGeom>
              <a:solidFill>
                <a:srgbClr val="D2FAFE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716571" cy="13884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81869" y="4328659"/>
              <a:ext cx="2854975" cy="1409318"/>
              <a:chOff x="0" y="0"/>
              <a:chExt cx="654920" cy="32329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54920" cy="323292"/>
              </a:xfrm>
              <a:custGeom>
                <a:avLst/>
                <a:gdLst/>
                <a:ahLst/>
                <a:cxnLst/>
                <a:rect r="r" b="b" t="t" l="l"/>
                <a:pathLst>
                  <a:path h="323292" w="654920">
                    <a:moveTo>
                      <a:pt x="161646" y="0"/>
                    </a:moveTo>
                    <a:lnTo>
                      <a:pt x="493274" y="0"/>
                    </a:lnTo>
                    <a:cubicBezTo>
                      <a:pt x="536145" y="0"/>
                      <a:pt x="577261" y="17031"/>
                      <a:pt x="607575" y="47345"/>
                    </a:cubicBezTo>
                    <a:cubicBezTo>
                      <a:pt x="637890" y="77660"/>
                      <a:pt x="654920" y="118775"/>
                      <a:pt x="654920" y="161646"/>
                    </a:cubicBezTo>
                    <a:lnTo>
                      <a:pt x="654920" y="161646"/>
                    </a:lnTo>
                    <a:cubicBezTo>
                      <a:pt x="654920" y="204517"/>
                      <a:pt x="637890" y="245633"/>
                      <a:pt x="607575" y="275947"/>
                    </a:cubicBezTo>
                    <a:cubicBezTo>
                      <a:pt x="577261" y="306262"/>
                      <a:pt x="536145" y="323292"/>
                      <a:pt x="493274" y="323292"/>
                    </a:cubicBezTo>
                    <a:lnTo>
                      <a:pt x="161646" y="323292"/>
                    </a:lnTo>
                    <a:cubicBezTo>
                      <a:pt x="118775" y="323292"/>
                      <a:pt x="77660" y="306262"/>
                      <a:pt x="47345" y="275947"/>
                    </a:cubicBezTo>
                    <a:cubicBezTo>
                      <a:pt x="17031" y="245633"/>
                      <a:pt x="0" y="204517"/>
                      <a:pt x="0" y="161646"/>
                    </a:cubicBezTo>
                    <a:lnTo>
                      <a:pt x="0" y="161646"/>
                    </a:lnTo>
                    <a:cubicBezTo>
                      <a:pt x="0" y="118775"/>
                      <a:pt x="17031" y="77660"/>
                      <a:pt x="47345" y="47345"/>
                    </a:cubicBezTo>
                    <a:cubicBezTo>
                      <a:pt x="77660" y="17031"/>
                      <a:pt x="118775" y="0"/>
                      <a:pt x="161646" y="0"/>
                    </a:cubicBezTo>
                    <a:close/>
                  </a:path>
                </a:pathLst>
              </a:custGeom>
              <a:solidFill>
                <a:srgbClr val="9FED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54920" cy="3613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70485" y="182401"/>
              <a:ext cx="2887227" cy="69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9"/>
                </a:lnSpc>
                <a:spcBef>
                  <a:spcPct val="0"/>
                </a:spcBef>
              </a:pPr>
              <a:r>
                <a:rPr lang="en-US" b="true" sz="154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STATIC CAMPUS MAPS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13464" y="3117911"/>
              <a:ext cx="2592001" cy="1007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35"/>
                </a:lnSpc>
                <a:spcBef>
                  <a:spcPct val="0"/>
                </a:spcBef>
              </a:pPr>
              <a:r>
                <a:rPr lang="en-US" sz="145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Provide the locations of buildings, roads, and facilities.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2235" y="4741206"/>
              <a:ext cx="3019260" cy="69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9"/>
                </a:lnSpc>
                <a:spcBef>
                  <a:spcPct val="0"/>
                </a:spcBef>
              </a:pPr>
              <a:r>
                <a:rPr lang="en-US" sz="154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No automatic route calculation.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566571" y="4342274"/>
            <a:ext cx="2674194" cy="4414863"/>
            <a:chOff x="0" y="0"/>
            <a:chExt cx="3565591" cy="588648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3543217" cy="5886484"/>
              <a:chOff x="0" y="0"/>
              <a:chExt cx="812800" cy="135033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350336"/>
              </a:xfrm>
              <a:custGeom>
                <a:avLst/>
                <a:gdLst/>
                <a:ahLst/>
                <a:cxnLst/>
                <a:rect r="r" b="b" t="t" l="l"/>
                <a:pathLst>
                  <a:path h="1350336" w="812800">
                    <a:moveTo>
                      <a:pt x="148580" y="0"/>
                    </a:moveTo>
                    <a:lnTo>
                      <a:pt x="664220" y="0"/>
                    </a:lnTo>
                    <a:cubicBezTo>
                      <a:pt x="703626" y="0"/>
                      <a:pt x="741418" y="15654"/>
                      <a:pt x="769282" y="43518"/>
                    </a:cubicBezTo>
                    <a:cubicBezTo>
                      <a:pt x="797146" y="71382"/>
                      <a:pt x="812800" y="109174"/>
                      <a:pt x="812800" y="148580"/>
                    </a:cubicBezTo>
                    <a:lnTo>
                      <a:pt x="812800" y="1201757"/>
                    </a:lnTo>
                    <a:cubicBezTo>
                      <a:pt x="812800" y="1241162"/>
                      <a:pt x="797146" y="1278954"/>
                      <a:pt x="769282" y="1306818"/>
                    </a:cubicBezTo>
                    <a:cubicBezTo>
                      <a:pt x="741418" y="1334683"/>
                      <a:pt x="703626" y="1350336"/>
                      <a:pt x="664220" y="1350336"/>
                    </a:cubicBezTo>
                    <a:lnTo>
                      <a:pt x="148580" y="1350336"/>
                    </a:lnTo>
                    <a:cubicBezTo>
                      <a:pt x="109174" y="1350336"/>
                      <a:pt x="71382" y="1334683"/>
                      <a:pt x="43518" y="1306818"/>
                    </a:cubicBezTo>
                    <a:cubicBezTo>
                      <a:pt x="15654" y="1278954"/>
                      <a:pt x="0" y="1241162"/>
                      <a:pt x="0" y="1201757"/>
                    </a:cubicBezTo>
                    <a:lnTo>
                      <a:pt x="0" y="148580"/>
                    </a:lnTo>
                    <a:cubicBezTo>
                      <a:pt x="0" y="109174"/>
                      <a:pt x="15654" y="71382"/>
                      <a:pt x="43518" y="43518"/>
                    </a:cubicBezTo>
                    <a:cubicBezTo>
                      <a:pt x="71382" y="15654"/>
                      <a:pt x="109174" y="0"/>
                      <a:pt x="148580" y="0"/>
                    </a:cubicBezTo>
                    <a:close/>
                  </a:path>
                </a:pathLst>
              </a:custGeom>
              <a:solidFill>
                <a:srgbClr val="FEE2D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12800" cy="13884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19305" y="4332673"/>
              <a:ext cx="3019260" cy="1308035"/>
              <a:chOff x="0" y="0"/>
              <a:chExt cx="692606" cy="30005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92606" cy="300058"/>
              </a:xfrm>
              <a:custGeom>
                <a:avLst/>
                <a:gdLst/>
                <a:ahLst/>
                <a:cxnLst/>
                <a:rect r="r" b="b" t="t" l="l"/>
                <a:pathLst>
                  <a:path h="300058" w="692606">
                    <a:moveTo>
                      <a:pt x="150029" y="0"/>
                    </a:moveTo>
                    <a:lnTo>
                      <a:pt x="542577" y="0"/>
                    </a:lnTo>
                    <a:cubicBezTo>
                      <a:pt x="582367" y="0"/>
                      <a:pt x="620528" y="15807"/>
                      <a:pt x="648664" y="43943"/>
                    </a:cubicBezTo>
                    <a:cubicBezTo>
                      <a:pt x="676800" y="72078"/>
                      <a:pt x="692606" y="110239"/>
                      <a:pt x="692606" y="150029"/>
                    </a:cubicBezTo>
                    <a:lnTo>
                      <a:pt x="692606" y="150029"/>
                    </a:lnTo>
                    <a:cubicBezTo>
                      <a:pt x="692606" y="232888"/>
                      <a:pt x="625436" y="300058"/>
                      <a:pt x="542577" y="300058"/>
                    </a:cubicBezTo>
                    <a:lnTo>
                      <a:pt x="150029" y="300058"/>
                    </a:lnTo>
                    <a:cubicBezTo>
                      <a:pt x="110239" y="300058"/>
                      <a:pt x="72078" y="284252"/>
                      <a:pt x="43943" y="256116"/>
                    </a:cubicBezTo>
                    <a:cubicBezTo>
                      <a:pt x="15807" y="227980"/>
                      <a:pt x="0" y="189819"/>
                      <a:pt x="0" y="150029"/>
                    </a:cubicBezTo>
                    <a:lnTo>
                      <a:pt x="0" y="150029"/>
                    </a:lnTo>
                    <a:cubicBezTo>
                      <a:pt x="0" y="110239"/>
                      <a:pt x="15807" y="72078"/>
                      <a:pt x="43943" y="43943"/>
                    </a:cubicBezTo>
                    <a:cubicBezTo>
                      <a:pt x="72078" y="15807"/>
                      <a:pt x="110239" y="0"/>
                      <a:pt x="150029" y="0"/>
                    </a:cubicBezTo>
                    <a:close/>
                  </a:path>
                </a:pathLst>
              </a:custGeom>
              <a:solidFill>
                <a:srgbClr val="FFD2B8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92606" cy="3381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2375" y="221004"/>
              <a:ext cx="3543217" cy="336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9"/>
                </a:lnSpc>
                <a:spcBef>
                  <a:spcPct val="0"/>
                </a:spcBef>
              </a:pPr>
              <a:r>
                <a:rPr lang="en-US" b="true" sz="154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PHYSICAL SIGNBOARDS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55700" y="3117911"/>
              <a:ext cx="2631816" cy="1007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035"/>
                </a:lnSpc>
                <a:spcBef>
                  <a:spcPct val="0"/>
                </a:spcBef>
              </a:pPr>
              <a:r>
                <a:rPr lang="en-US" sz="145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Guide users through directional boards and signposts.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19305" y="4623479"/>
              <a:ext cx="3019260" cy="69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9"/>
                </a:lnSpc>
                <a:spcBef>
                  <a:spcPct val="0"/>
                </a:spcBef>
              </a:pPr>
              <a:r>
                <a:rPr lang="en-US" sz="154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Requires manual interpretation.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18724" y="5975627"/>
            <a:ext cx="5676720" cy="3924930"/>
            <a:chOff x="0" y="0"/>
            <a:chExt cx="1736290" cy="120048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36290" cy="1200485"/>
            </a:xfrm>
            <a:custGeom>
              <a:avLst/>
              <a:gdLst/>
              <a:ahLst/>
              <a:cxnLst/>
              <a:rect r="r" b="b" t="t" l="l"/>
              <a:pathLst>
                <a:path h="1200485" w="1736290">
                  <a:moveTo>
                    <a:pt x="69554" y="0"/>
                  </a:moveTo>
                  <a:lnTo>
                    <a:pt x="1666736" y="0"/>
                  </a:lnTo>
                  <a:cubicBezTo>
                    <a:pt x="1705149" y="0"/>
                    <a:pt x="1736290" y="31140"/>
                    <a:pt x="1736290" y="69554"/>
                  </a:cubicBezTo>
                  <a:lnTo>
                    <a:pt x="1736290" y="1130931"/>
                  </a:lnTo>
                  <a:cubicBezTo>
                    <a:pt x="1736290" y="1169345"/>
                    <a:pt x="1705149" y="1200485"/>
                    <a:pt x="1666736" y="1200485"/>
                  </a:cubicBezTo>
                  <a:lnTo>
                    <a:pt x="69554" y="1200485"/>
                  </a:lnTo>
                  <a:cubicBezTo>
                    <a:pt x="31140" y="1200485"/>
                    <a:pt x="0" y="1169345"/>
                    <a:pt x="0" y="1130931"/>
                  </a:cubicBezTo>
                  <a:lnTo>
                    <a:pt x="0" y="69554"/>
                  </a:lnTo>
                  <a:cubicBezTo>
                    <a:pt x="0" y="31140"/>
                    <a:pt x="31140" y="0"/>
                    <a:pt x="69554" y="0"/>
                  </a:cubicBezTo>
                  <a:close/>
                </a:path>
              </a:pathLst>
            </a:custGeom>
            <a:solidFill>
              <a:srgbClr val="FFEAE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736290" cy="1238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125397" y="4367216"/>
            <a:ext cx="2364974" cy="4389920"/>
            <a:chOff x="0" y="0"/>
            <a:chExt cx="3153299" cy="5853227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3153299" cy="5853227"/>
              <a:chOff x="0" y="0"/>
              <a:chExt cx="723354" cy="134270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723354" cy="1342707"/>
              </a:xfrm>
              <a:custGeom>
                <a:avLst/>
                <a:gdLst/>
                <a:ahLst/>
                <a:cxnLst/>
                <a:rect r="r" b="b" t="t" l="l"/>
                <a:pathLst>
                  <a:path h="1342707" w="723354">
                    <a:moveTo>
                      <a:pt x="166952" y="0"/>
                    </a:moveTo>
                    <a:lnTo>
                      <a:pt x="556402" y="0"/>
                    </a:lnTo>
                    <a:cubicBezTo>
                      <a:pt x="648607" y="0"/>
                      <a:pt x="723354" y="74747"/>
                      <a:pt x="723354" y="166952"/>
                    </a:cubicBezTo>
                    <a:lnTo>
                      <a:pt x="723354" y="1175755"/>
                    </a:lnTo>
                    <a:cubicBezTo>
                      <a:pt x="723354" y="1267960"/>
                      <a:pt x="648607" y="1342707"/>
                      <a:pt x="556402" y="1342707"/>
                    </a:cubicBezTo>
                    <a:lnTo>
                      <a:pt x="166952" y="1342707"/>
                    </a:lnTo>
                    <a:cubicBezTo>
                      <a:pt x="74747" y="1342707"/>
                      <a:pt x="0" y="1267960"/>
                      <a:pt x="0" y="1175755"/>
                    </a:cubicBezTo>
                    <a:lnTo>
                      <a:pt x="0" y="166952"/>
                    </a:lnTo>
                    <a:cubicBezTo>
                      <a:pt x="0" y="74747"/>
                      <a:pt x="74747" y="0"/>
                      <a:pt x="166952" y="0"/>
                    </a:cubicBezTo>
                    <a:close/>
                  </a:path>
                </a:pathLst>
              </a:custGeom>
              <a:solidFill>
                <a:srgbClr val="DBFEE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723354" cy="13808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60761" y="4241432"/>
              <a:ext cx="3031777" cy="1424004"/>
              <a:chOff x="0" y="0"/>
              <a:chExt cx="695478" cy="32666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95478" cy="326661"/>
              </a:xfrm>
              <a:custGeom>
                <a:avLst/>
                <a:gdLst/>
                <a:ahLst/>
                <a:cxnLst/>
                <a:rect r="r" b="b" t="t" l="l"/>
                <a:pathLst>
                  <a:path h="326661" w="695478">
                    <a:moveTo>
                      <a:pt x="163330" y="0"/>
                    </a:moveTo>
                    <a:lnTo>
                      <a:pt x="532147" y="0"/>
                    </a:lnTo>
                    <a:cubicBezTo>
                      <a:pt x="622352" y="0"/>
                      <a:pt x="695478" y="73126"/>
                      <a:pt x="695478" y="163330"/>
                    </a:cubicBezTo>
                    <a:lnTo>
                      <a:pt x="695478" y="163330"/>
                    </a:lnTo>
                    <a:cubicBezTo>
                      <a:pt x="695478" y="206648"/>
                      <a:pt x="678270" y="248192"/>
                      <a:pt x="647639" y="278823"/>
                    </a:cubicBezTo>
                    <a:cubicBezTo>
                      <a:pt x="617009" y="309453"/>
                      <a:pt x="575465" y="326661"/>
                      <a:pt x="532147" y="326661"/>
                    </a:cubicBezTo>
                    <a:lnTo>
                      <a:pt x="163330" y="326661"/>
                    </a:lnTo>
                    <a:cubicBezTo>
                      <a:pt x="73126" y="326661"/>
                      <a:pt x="0" y="253535"/>
                      <a:pt x="0" y="163330"/>
                    </a:cubicBezTo>
                    <a:lnTo>
                      <a:pt x="0" y="163330"/>
                    </a:lnTo>
                    <a:cubicBezTo>
                      <a:pt x="0" y="73126"/>
                      <a:pt x="73126" y="0"/>
                      <a:pt x="163330" y="0"/>
                    </a:cubicBezTo>
                    <a:close/>
                  </a:path>
                </a:pathLst>
              </a:custGeom>
              <a:solidFill>
                <a:srgbClr val="C4FFD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95478" cy="3647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209566" y="149143"/>
              <a:ext cx="2734166" cy="69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9"/>
                </a:lnSpc>
                <a:spcBef>
                  <a:spcPct val="0"/>
                </a:spcBef>
              </a:pPr>
              <a:r>
                <a:rPr lang="en-US" b="true" sz="154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MANUAL DIRECTIONS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14465" y="2741908"/>
              <a:ext cx="2524369" cy="1350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035"/>
                </a:lnSpc>
                <a:spcBef>
                  <a:spcPct val="0"/>
                </a:spcBef>
              </a:pPr>
              <a:r>
                <a:rPr lang="en-US" sz="145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Users depend on students, faculty, or security personnel for guidance.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60761" y="4382795"/>
              <a:ext cx="3019260" cy="1058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9"/>
                </a:lnSpc>
                <a:spcBef>
                  <a:spcPct val="0"/>
                </a:spcBef>
              </a:pPr>
              <a:r>
                <a:rPr lang="en-US" sz="154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Time-consuming and dependent on human knowledge.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60423" y="9036308"/>
            <a:ext cx="10056492" cy="864249"/>
            <a:chOff x="0" y="0"/>
            <a:chExt cx="3075893" cy="26434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75893" cy="264341"/>
            </a:xfrm>
            <a:custGeom>
              <a:avLst/>
              <a:gdLst/>
              <a:ahLst/>
              <a:cxnLst/>
              <a:rect r="r" b="b" t="t" l="l"/>
              <a:pathLst>
                <a:path h="264341" w="3075893">
                  <a:moveTo>
                    <a:pt x="39262" y="0"/>
                  </a:moveTo>
                  <a:lnTo>
                    <a:pt x="3036631" y="0"/>
                  </a:lnTo>
                  <a:cubicBezTo>
                    <a:pt x="3047044" y="0"/>
                    <a:pt x="3057031" y="4137"/>
                    <a:pt x="3064394" y="11500"/>
                  </a:cubicBezTo>
                  <a:cubicBezTo>
                    <a:pt x="3071757" y="18863"/>
                    <a:pt x="3075893" y="28849"/>
                    <a:pt x="3075893" y="39262"/>
                  </a:cubicBezTo>
                  <a:lnTo>
                    <a:pt x="3075893" y="225079"/>
                  </a:lnTo>
                  <a:cubicBezTo>
                    <a:pt x="3075893" y="235492"/>
                    <a:pt x="3071757" y="245478"/>
                    <a:pt x="3064394" y="252841"/>
                  </a:cubicBezTo>
                  <a:cubicBezTo>
                    <a:pt x="3057031" y="260204"/>
                    <a:pt x="3047044" y="264341"/>
                    <a:pt x="3036631" y="264341"/>
                  </a:cubicBezTo>
                  <a:lnTo>
                    <a:pt x="39262" y="264341"/>
                  </a:lnTo>
                  <a:cubicBezTo>
                    <a:pt x="17578" y="264341"/>
                    <a:pt x="0" y="246762"/>
                    <a:pt x="0" y="225079"/>
                  </a:cubicBezTo>
                  <a:lnTo>
                    <a:pt x="0" y="39262"/>
                  </a:lnTo>
                  <a:cubicBezTo>
                    <a:pt x="0" y="28849"/>
                    <a:pt x="4137" y="18863"/>
                    <a:pt x="11500" y="11500"/>
                  </a:cubicBezTo>
                  <a:cubicBezTo>
                    <a:pt x="18863" y="4137"/>
                    <a:pt x="28849" y="0"/>
                    <a:pt x="39262" y="0"/>
                  </a:cubicBezTo>
                  <a:close/>
                </a:path>
              </a:pathLst>
            </a:custGeom>
            <a:solidFill>
              <a:srgbClr val="DBFEEC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075893" cy="302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316965" y="4354745"/>
            <a:ext cx="2739809" cy="4414863"/>
            <a:chOff x="0" y="0"/>
            <a:chExt cx="3653078" cy="5886484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3543217" cy="5886484"/>
              <a:chOff x="0" y="0"/>
              <a:chExt cx="812800" cy="1350336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1350336"/>
              </a:xfrm>
              <a:custGeom>
                <a:avLst/>
                <a:gdLst/>
                <a:ahLst/>
                <a:cxnLst/>
                <a:rect r="r" b="b" t="t" l="l"/>
                <a:pathLst>
                  <a:path h="1350336" w="812800">
                    <a:moveTo>
                      <a:pt x="148580" y="0"/>
                    </a:moveTo>
                    <a:lnTo>
                      <a:pt x="664220" y="0"/>
                    </a:lnTo>
                    <a:cubicBezTo>
                      <a:pt x="703626" y="0"/>
                      <a:pt x="741418" y="15654"/>
                      <a:pt x="769282" y="43518"/>
                    </a:cubicBezTo>
                    <a:cubicBezTo>
                      <a:pt x="797146" y="71382"/>
                      <a:pt x="812800" y="109174"/>
                      <a:pt x="812800" y="148580"/>
                    </a:cubicBezTo>
                    <a:lnTo>
                      <a:pt x="812800" y="1201757"/>
                    </a:lnTo>
                    <a:cubicBezTo>
                      <a:pt x="812800" y="1241162"/>
                      <a:pt x="797146" y="1278954"/>
                      <a:pt x="769282" y="1306818"/>
                    </a:cubicBezTo>
                    <a:cubicBezTo>
                      <a:pt x="741418" y="1334683"/>
                      <a:pt x="703626" y="1350336"/>
                      <a:pt x="664220" y="1350336"/>
                    </a:cubicBezTo>
                    <a:lnTo>
                      <a:pt x="148580" y="1350336"/>
                    </a:lnTo>
                    <a:cubicBezTo>
                      <a:pt x="109174" y="1350336"/>
                      <a:pt x="71382" y="1334683"/>
                      <a:pt x="43518" y="1306818"/>
                    </a:cubicBezTo>
                    <a:cubicBezTo>
                      <a:pt x="15654" y="1278954"/>
                      <a:pt x="0" y="1241162"/>
                      <a:pt x="0" y="1201757"/>
                    </a:cubicBezTo>
                    <a:lnTo>
                      <a:pt x="0" y="148580"/>
                    </a:lnTo>
                    <a:cubicBezTo>
                      <a:pt x="0" y="109174"/>
                      <a:pt x="15654" y="71382"/>
                      <a:pt x="43518" y="43518"/>
                    </a:cubicBezTo>
                    <a:cubicBezTo>
                      <a:pt x="71382" y="15654"/>
                      <a:pt x="109174" y="0"/>
                      <a:pt x="148580" y="0"/>
                    </a:cubicBezTo>
                    <a:close/>
                  </a:path>
                </a:pathLst>
              </a:custGeom>
              <a:solidFill>
                <a:srgbClr val="F6E4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812800" cy="13884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208284" y="4332673"/>
              <a:ext cx="3071898" cy="1413089"/>
              <a:chOff x="0" y="0"/>
              <a:chExt cx="704681" cy="324157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704681" cy="324157"/>
              </a:xfrm>
              <a:custGeom>
                <a:avLst/>
                <a:gdLst/>
                <a:ahLst/>
                <a:cxnLst/>
                <a:rect r="r" b="b" t="t" l="l"/>
                <a:pathLst>
                  <a:path h="324157" w="704681">
                    <a:moveTo>
                      <a:pt x="162079" y="0"/>
                    </a:moveTo>
                    <a:lnTo>
                      <a:pt x="542603" y="0"/>
                    </a:lnTo>
                    <a:cubicBezTo>
                      <a:pt x="585589" y="0"/>
                      <a:pt x="626814" y="17076"/>
                      <a:pt x="657210" y="47472"/>
                    </a:cubicBezTo>
                    <a:cubicBezTo>
                      <a:pt x="687605" y="77867"/>
                      <a:pt x="704681" y="119093"/>
                      <a:pt x="704681" y="162079"/>
                    </a:cubicBezTo>
                    <a:lnTo>
                      <a:pt x="704681" y="162079"/>
                    </a:lnTo>
                    <a:cubicBezTo>
                      <a:pt x="704681" y="251592"/>
                      <a:pt x="632116" y="324157"/>
                      <a:pt x="542603" y="324157"/>
                    </a:cubicBezTo>
                    <a:lnTo>
                      <a:pt x="162079" y="324157"/>
                    </a:lnTo>
                    <a:cubicBezTo>
                      <a:pt x="119093" y="324157"/>
                      <a:pt x="77867" y="307081"/>
                      <a:pt x="47472" y="276685"/>
                    </a:cubicBezTo>
                    <a:cubicBezTo>
                      <a:pt x="17076" y="246290"/>
                      <a:pt x="0" y="205064"/>
                      <a:pt x="0" y="162079"/>
                    </a:cubicBezTo>
                    <a:lnTo>
                      <a:pt x="0" y="162079"/>
                    </a:lnTo>
                    <a:cubicBezTo>
                      <a:pt x="0" y="119093"/>
                      <a:pt x="17076" y="77867"/>
                      <a:pt x="47472" y="47472"/>
                    </a:cubicBezTo>
                    <a:cubicBezTo>
                      <a:pt x="77867" y="17076"/>
                      <a:pt x="119093" y="0"/>
                      <a:pt x="162079" y="0"/>
                    </a:cubicBezTo>
                    <a:close/>
                  </a:path>
                </a:pathLst>
              </a:custGeom>
              <a:solidFill>
                <a:srgbClr val="EECBFF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704681" cy="3622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109862" y="88552"/>
              <a:ext cx="3543217" cy="697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9"/>
                </a:lnSpc>
                <a:spcBef>
                  <a:spcPct val="0"/>
                </a:spcBef>
              </a:pPr>
              <a:r>
                <a:rPr lang="en-US" b="true" sz="154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GENERAL MAP APPLICATIONS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724432" y="3117911"/>
              <a:ext cx="2039602" cy="1007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035"/>
                </a:lnSpc>
                <a:spcBef>
                  <a:spcPct val="0"/>
                </a:spcBef>
              </a:pPr>
              <a:r>
                <a:rPr lang="en-US" sz="1453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Provide digital navigation for major locations.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61823" y="4419986"/>
              <a:ext cx="2819570" cy="1058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9"/>
                </a:lnSpc>
                <a:spcBef>
                  <a:spcPct val="0"/>
                </a:spcBef>
              </a:pPr>
              <a:r>
                <a:rPr lang="en-US" sz="154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Limited campus-specific information and internal pathways.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1418724" y="1664138"/>
            <a:ext cx="5676720" cy="4127112"/>
          </a:xfrm>
          <a:custGeom>
            <a:avLst/>
            <a:gdLst/>
            <a:ahLst/>
            <a:cxnLst/>
            <a:rect r="r" b="b" t="t" l="l"/>
            <a:pathLst>
              <a:path h="4127112" w="5676720">
                <a:moveTo>
                  <a:pt x="0" y="0"/>
                </a:moveTo>
                <a:lnTo>
                  <a:pt x="5676719" y="0"/>
                </a:lnTo>
                <a:lnTo>
                  <a:pt x="5676719" y="4127111"/>
                </a:lnTo>
                <a:lnTo>
                  <a:pt x="0" y="41271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06562" t="-26192" r="-5986" b="-115627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89768" y="5216648"/>
            <a:ext cx="1770542" cy="1345529"/>
          </a:xfrm>
          <a:custGeom>
            <a:avLst/>
            <a:gdLst/>
            <a:ahLst/>
            <a:cxnLst/>
            <a:rect r="r" b="b" t="t" l="l"/>
            <a:pathLst>
              <a:path h="1345529" w="1770542">
                <a:moveTo>
                  <a:pt x="0" y="0"/>
                </a:moveTo>
                <a:lnTo>
                  <a:pt x="1770542" y="0"/>
                </a:lnTo>
                <a:lnTo>
                  <a:pt x="1770542" y="1345529"/>
                </a:lnTo>
                <a:lnTo>
                  <a:pt x="0" y="13455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0244" t="-201269" r="-562336" b="-204229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3557249" y="5143500"/>
            <a:ext cx="1501270" cy="1140895"/>
          </a:xfrm>
          <a:custGeom>
            <a:avLst/>
            <a:gdLst/>
            <a:ahLst/>
            <a:cxnLst/>
            <a:rect r="r" b="b" t="t" l="l"/>
            <a:pathLst>
              <a:path h="1140895" w="1501270">
                <a:moveTo>
                  <a:pt x="0" y="0"/>
                </a:moveTo>
                <a:lnTo>
                  <a:pt x="1501270" y="0"/>
                </a:lnTo>
                <a:lnTo>
                  <a:pt x="1501270" y="1140895"/>
                </a:lnTo>
                <a:lnTo>
                  <a:pt x="0" y="11408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7521" t="-202971" r="-345058" b="-202527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942019" y="5039691"/>
            <a:ext cx="1923299" cy="1461617"/>
          </a:xfrm>
          <a:custGeom>
            <a:avLst/>
            <a:gdLst/>
            <a:ahLst/>
            <a:cxnLst/>
            <a:rect r="r" b="b" t="t" l="l"/>
            <a:pathLst>
              <a:path h="1461617" w="1923299">
                <a:moveTo>
                  <a:pt x="0" y="0"/>
                </a:moveTo>
                <a:lnTo>
                  <a:pt x="1923299" y="0"/>
                </a:lnTo>
                <a:lnTo>
                  <a:pt x="1923299" y="1461617"/>
                </a:lnTo>
                <a:lnTo>
                  <a:pt x="0" y="14616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4703" t="-202971" r="-447876" b="-202527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908150" y="5034628"/>
            <a:ext cx="1184898" cy="1513243"/>
          </a:xfrm>
          <a:custGeom>
            <a:avLst/>
            <a:gdLst/>
            <a:ahLst/>
            <a:cxnLst/>
            <a:rect r="r" b="b" t="t" l="l"/>
            <a:pathLst>
              <a:path h="1513243" w="1184898">
                <a:moveTo>
                  <a:pt x="0" y="0"/>
                </a:moveTo>
                <a:lnTo>
                  <a:pt x="1184898" y="0"/>
                </a:lnTo>
                <a:lnTo>
                  <a:pt x="1184898" y="1513243"/>
                </a:lnTo>
                <a:lnTo>
                  <a:pt x="0" y="1513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3813" t="-193825" r="-414135" b="-194427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1777765" y="6225688"/>
            <a:ext cx="759119" cy="683207"/>
          </a:xfrm>
          <a:custGeom>
            <a:avLst/>
            <a:gdLst/>
            <a:ahLst/>
            <a:cxnLst/>
            <a:rect r="r" b="b" t="t" l="l"/>
            <a:pathLst>
              <a:path h="683207" w="759119">
                <a:moveTo>
                  <a:pt x="0" y="0"/>
                </a:moveTo>
                <a:lnTo>
                  <a:pt x="759119" y="0"/>
                </a:lnTo>
                <a:lnTo>
                  <a:pt x="759119" y="683207"/>
                </a:lnTo>
                <a:lnTo>
                  <a:pt x="0" y="6832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12663054" y="6139936"/>
            <a:ext cx="4596246" cy="80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9"/>
              </a:lnSpc>
              <a:spcBef>
                <a:spcPct val="0"/>
              </a:spcBef>
            </a:pPr>
            <a:r>
              <a:rPr lang="en-US" b="true" sz="2349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LIMITATIONS OF EXISTING SYSTEM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115305" y="7112429"/>
            <a:ext cx="4555697" cy="257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559"/>
              </a:lnSpc>
              <a:buFont typeface="Arial"/>
              <a:buChar char="•"/>
            </a:pPr>
            <a:r>
              <a:rPr lang="en-US" sz="15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No intelligent route optimization.</a:t>
            </a:r>
          </a:p>
          <a:p>
            <a:pPr algn="l" marL="345439" indent="-172720" lvl="1">
              <a:lnSpc>
                <a:spcPts val="2559"/>
              </a:lnSpc>
              <a:buFont typeface="Arial"/>
              <a:buChar char="•"/>
            </a:pPr>
            <a:r>
              <a:rPr lang="en-US" sz="15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Difficult for first-time visitors to navigate.</a:t>
            </a:r>
          </a:p>
          <a:p>
            <a:pPr algn="l" marL="345439" indent="-172720" lvl="1">
              <a:lnSpc>
                <a:spcPts val="2559"/>
              </a:lnSpc>
              <a:buFont typeface="Arial"/>
              <a:buChar char="•"/>
            </a:pPr>
            <a:r>
              <a:rPr lang="en-US" sz="15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Requires users to manually determine the route.</a:t>
            </a:r>
          </a:p>
          <a:p>
            <a:pPr algn="l" marL="345439" indent="-172720" lvl="1">
              <a:lnSpc>
                <a:spcPts val="2559"/>
              </a:lnSpc>
              <a:buFont typeface="Arial"/>
              <a:buChar char="•"/>
            </a:pPr>
            <a:r>
              <a:rPr lang="en-US" sz="15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Limited representation of internal campus pathways.</a:t>
            </a:r>
          </a:p>
          <a:p>
            <a:pPr algn="l" marL="345439" indent="-172720" lvl="1">
              <a:lnSpc>
                <a:spcPts val="2559"/>
              </a:lnSpc>
              <a:buFont typeface="Arial"/>
              <a:buChar char="•"/>
            </a:pPr>
            <a:r>
              <a:rPr lang="en-US" sz="15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Does not efficiently handle blocked or unavailable routes.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47257" y="9118548"/>
            <a:ext cx="9282823" cy="63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599" b="true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There is a need for a campus-specific, intelligent navigation system that represents internal pathways and automatically calculates an efficient route between user-selected locations.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307884" y="266884"/>
            <a:ext cx="9672231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Inter Bold"/>
                <a:ea typeface="Inter Bold"/>
                <a:cs typeface="Inter Bold"/>
                <a:sym typeface="Inter Bold"/>
              </a:rPr>
              <a:t>EXISTING SYSTEM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28700" y="1913953"/>
            <a:ext cx="9244578" cy="209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5"/>
              </a:lnSpc>
              <a:spcBef>
                <a:spcPct val="0"/>
              </a:spcBef>
            </a:pPr>
            <a:r>
              <a:rPr lang="en-US" sz="2403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Campus navigation is currently handled through static maps, physical signboards, manual directions, and general-purpose map applications. While these methods provide basic location information, they do not automatically determine the most efficient route within the campus.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411213" y="5687143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2509394" y="-1945766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87593" y="1806669"/>
            <a:ext cx="5361601" cy="4989426"/>
          </a:xfrm>
          <a:custGeom>
            <a:avLst/>
            <a:gdLst/>
            <a:ahLst/>
            <a:cxnLst/>
            <a:rect r="r" b="b" t="t" l="l"/>
            <a:pathLst>
              <a:path h="4989426" w="5361601">
                <a:moveTo>
                  <a:pt x="0" y="0"/>
                </a:moveTo>
                <a:lnTo>
                  <a:pt x="5361601" y="0"/>
                </a:lnTo>
                <a:lnTo>
                  <a:pt x="5361601" y="4989426"/>
                </a:lnTo>
                <a:lnTo>
                  <a:pt x="0" y="49894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7451" t="-21317" r="-5805" b="-8616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40113" y="7100895"/>
            <a:ext cx="5361601" cy="3032031"/>
          </a:xfrm>
          <a:custGeom>
            <a:avLst/>
            <a:gdLst/>
            <a:ahLst/>
            <a:cxnLst/>
            <a:rect r="r" b="b" t="t" l="l"/>
            <a:pathLst>
              <a:path h="3032031" w="5361601">
                <a:moveTo>
                  <a:pt x="0" y="0"/>
                </a:moveTo>
                <a:lnTo>
                  <a:pt x="5361602" y="0"/>
                </a:lnTo>
                <a:lnTo>
                  <a:pt x="5361602" y="3032031"/>
                </a:lnTo>
                <a:lnTo>
                  <a:pt x="0" y="30320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6403" t="-203670" r="-6854" b="-3776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8068" y="8616911"/>
            <a:ext cx="9292432" cy="1402135"/>
          </a:xfrm>
          <a:custGeom>
            <a:avLst/>
            <a:gdLst/>
            <a:ahLst/>
            <a:cxnLst/>
            <a:rect r="r" b="b" t="t" l="l"/>
            <a:pathLst>
              <a:path h="1402135" w="9292432">
                <a:moveTo>
                  <a:pt x="0" y="0"/>
                </a:moveTo>
                <a:lnTo>
                  <a:pt x="9292432" y="0"/>
                </a:lnTo>
                <a:lnTo>
                  <a:pt x="9292432" y="1402135"/>
                </a:lnTo>
                <a:lnTo>
                  <a:pt x="0" y="14021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856" t="-636035" r="-94198" b="-2288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94846" y="4301382"/>
            <a:ext cx="2071865" cy="3950505"/>
            <a:chOff x="0" y="0"/>
            <a:chExt cx="633704" cy="12083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704" cy="1208307"/>
            </a:xfrm>
            <a:custGeom>
              <a:avLst/>
              <a:gdLst/>
              <a:ahLst/>
              <a:cxnLst/>
              <a:rect r="r" b="b" t="t" l="l"/>
              <a:pathLst>
                <a:path h="1208307" w="633704">
                  <a:moveTo>
                    <a:pt x="190571" y="0"/>
                  </a:moveTo>
                  <a:lnTo>
                    <a:pt x="443132" y="0"/>
                  </a:lnTo>
                  <a:cubicBezTo>
                    <a:pt x="493675" y="0"/>
                    <a:pt x="542147" y="20078"/>
                    <a:pt x="577886" y="55817"/>
                  </a:cubicBezTo>
                  <a:cubicBezTo>
                    <a:pt x="613626" y="91556"/>
                    <a:pt x="633704" y="140029"/>
                    <a:pt x="633704" y="190571"/>
                  </a:cubicBezTo>
                  <a:lnTo>
                    <a:pt x="633704" y="1017736"/>
                  </a:lnTo>
                  <a:cubicBezTo>
                    <a:pt x="633704" y="1068279"/>
                    <a:pt x="613626" y="1116751"/>
                    <a:pt x="577886" y="1152490"/>
                  </a:cubicBezTo>
                  <a:cubicBezTo>
                    <a:pt x="542147" y="1188229"/>
                    <a:pt x="493675" y="1208307"/>
                    <a:pt x="443132" y="1208307"/>
                  </a:cubicBezTo>
                  <a:lnTo>
                    <a:pt x="190571" y="1208307"/>
                  </a:lnTo>
                  <a:cubicBezTo>
                    <a:pt x="140029" y="1208307"/>
                    <a:pt x="91556" y="1188229"/>
                    <a:pt x="55817" y="1152490"/>
                  </a:cubicBezTo>
                  <a:cubicBezTo>
                    <a:pt x="20078" y="1116751"/>
                    <a:pt x="0" y="1068279"/>
                    <a:pt x="0" y="1017736"/>
                  </a:cubicBezTo>
                  <a:lnTo>
                    <a:pt x="0" y="190571"/>
                  </a:lnTo>
                  <a:cubicBezTo>
                    <a:pt x="0" y="140029"/>
                    <a:pt x="20078" y="91556"/>
                    <a:pt x="55817" y="55817"/>
                  </a:cubicBezTo>
                  <a:cubicBezTo>
                    <a:pt x="91556" y="20078"/>
                    <a:pt x="140029" y="0"/>
                    <a:pt x="190571" y="0"/>
                  </a:cubicBezTo>
                  <a:close/>
                </a:path>
              </a:pathLst>
            </a:custGeom>
            <a:solidFill>
              <a:srgbClr val="D2FAF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33704" cy="1246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83205" y="4337879"/>
            <a:ext cx="2122643" cy="3914008"/>
            <a:chOff x="0" y="0"/>
            <a:chExt cx="649235" cy="11971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9235" cy="1197144"/>
            </a:xfrm>
            <a:custGeom>
              <a:avLst/>
              <a:gdLst/>
              <a:ahLst/>
              <a:cxnLst/>
              <a:rect r="r" b="b" t="t" l="l"/>
              <a:pathLst>
                <a:path h="1197144" w="649235">
                  <a:moveTo>
                    <a:pt x="186012" y="0"/>
                  </a:moveTo>
                  <a:lnTo>
                    <a:pt x="463222" y="0"/>
                  </a:lnTo>
                  <a:cubicBezTo>
                    <a:pt x="512556" y="0"/>
                    <a:pt x="559869" y="19598"/>
                    <a:pt x="594753" y="54482"/>
                  </a:cubicBezTo>
                  <a:cubicBezTo>
                    <a:pt x="629637" y="89366"/>
                    <a:pt x="649235" y="136679"/>
                    <a:pt x="649235" y="186012"/>
                  </a:cubicBezTo>
                  <a:lnTo>
                    <a:pt x="649235" y="1011132"/>
                  </a:lnTo>
                  <a:cubicBezTo>
                    <a:pt x="649235" y="1060465"/>
                    <a:pt x="629637" y="1107778"/>
                    <a:pt x="594753" y="1142662"/>
                  </a:cubicBezTo>
                  <a:cubicBezTo>
                    <a:pt x="559869" y="1177547"/>
                    <a:pt x="512556" y="1197144"/>
                    <a:pt x="463222" y="1197144"/>
                  </a:cubicBezTo>
                  <a:lnTo>
                    <a:pt x="186012" y="1197144"/>
                  </a:lnTo>
                  <a:cubicBezTo>
                    <a:pt x="136679" y="1197144"/>
                    <a:pt x="89366" y="1177547"/>
                    <a:pt x="54482" y="1142662"/>
                  </a:cubicBezTo>
                  <a:cubicBezTo>
                    <a:pt x="19598" y="1107778"/>
                    <a:pt x="0" y="1060465"/>
                    <a:pt x="0" y="1011132"/>
                  </a:cubicBezTo>
                  <a:lnTo>
                    <a:pt x="0" y="186012"/>
                  </a:lnTo>
                  <a:cubicBezTo>
                    <a:pt x="0" y="136679"/>
                    <a:pt x="19598" y="89366"/>
                    <a:pt x="54482" y="54482"/>
                  </a:cubicBezTo>
                  <a:cubicBezTo>
                    <a:pt x="89366" y="19598"/>
                    <a:pt x="136679" y="0"/>
                    <a:pt x="186012" y="0"/>
                  </a:cubicBezTo>
                  <a:close/>
                </a:path>
              </a:pathLst>
            </a:custGeom>
            <a:solidFill>
              <a:srgbClr val="FEE2D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49235" cy="1235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629048" y="4337879"/>
            <a:ext cx="2173181" cy="3914008"/>
            <a:chOff x="0" y="0"/>
            <a:chExt cx="664692" cy="11971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4692" cy="1197144"/>
            </a:xfrm>
            <a:custGeom>
              <a:avLst/>
              <a:gdLst/>
              <a:ahLst/>
              <a:cxnLst/>
              <a:rect r="r" b="b" t="t" l="l"/>
              <a:pathLst>
                <a:path h="1197144" w="664692">
                  <a:moveTo>
                    <a:pt x="181687" y="0"/>
                  </a:moveTo>
                  <a:lnTo>
                    <a:pt x="483006" y="0"/>
                  </a:lnTo>
                  <a:cubicBezTo>
                    <a:pt x="583349" y="0"/>
                    <a:pt x="664692" y="81344"/>
                    <a:pt x="664692" y="181687"/>
                  </a:cubicBezTo>
                  <a:lnTo>
                    <a:pt x="664692" y="1015458"/>
                  </a:lnTo>
                  <a:cubicBezTo>
                    <a:pt x="664692" y="1115800"/>
                    <a:pt x="583349" y="1197144"/>
                    <a:pt x="483006" y="1197144"/>
                  </a:cubicBezTo>
                  <a:lnTo>
                    <a:pt x="181687" y="1197144"/>
                  </a:lnTo>
                  <a:cubicBezTo>
                    <a:pt x="81344" y="1197144"/>
                    <a:pt x="0" y="1115800"/>
                    <a:pt x="0" y="1015458"/>
                  </a:cubicBezTo>
                  <a:lnTo>
                    <a:pt x="0" y="181687"/>
                  </a:lnTo>
                  <a:cubicBezTo>
                    <a:pt x="0" y="81344"/>
                    <a:pt x="81344" y="0"/>
                    <a:pt x="181687" y="0"/>
                  </a:cubicBezTo>
                  <a:close/>
                </a:path>
              </a:pathLst>
            </a:custGeom>
            <a:solidFill>
              <a:srgbClr val="DBFEE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64692" cy="1235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09752" y="4337879"/>
            <a:ext cx="2088955" cy="3914008"/>
            <a:chOff x="0" y="0"/>
            <a:chExt cx="638931" cy="11971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8931" cy="1197144"/>
            </a:xfrm>
            <a:custGeom>
              <a:avLst/>
              <a:gdLst/>
              <a:ahLst/>
              <a:cxnLst/>
              <a:rect r="r" b="b" t="t" l="l"/>
              <a:pathLst>
                <a:path h="1197144" w="638931">
                  <a:moveTo>
                    <a:pt x="189012" y="0"/>
                  </a:moveTo>
                  <a:lnTo>
                    <a:pt x="449919" y="0"/>
                  </a:lnTo>
                  <a:cubicBezTo>
                    <a:pt x="500048" y="0"/>
                    <a:pt x="548124" y="19914"/>
                    <a:pt x="583571" y="55360"/>
                  </a:cubicBezTo>
                  <a:cubicBezTo>
                    <a:pt x="619017" y="90807"/>
                    <a:pt x="638931" y="138883"/>
                    <a:pt x="638931" y="189012"/>
                  </a:cubicBezTo>
                  <a:lnTo>
                    <a:pt x="638931" y="1008132"/>
                  </a:lnTo>
                  <a:cubicBezTo>
                    <a:pt x="638931" y="1058261"/>
                    <a:pt x="619017" y="1106337"/>
                    <a:pt x="583571" y="1141784"/>
                  </a:cubicBezTo>
                  <a:cubicBezTo>
                    <a:pt x="548124" y="1177230"/>
                    <a:pt x="500048" y="1197144"/>
                    <a:pt x="449919" y="1197144"/>
                  </a:cubicBezTo>
                  <a:lnTo>
                    <a:pt x="189012" y="1197144"/>
                  </a:lnTo>
                  <a:cubicBezTo>
                    <a:pt x="138883" y="1197144"/>
                    <a:pt x="90807" y="1177230"/>
                    <a:pt x="55360" y="1141784"/>
                  </a:cubicBezTo>
                  <a:cubicBezTo>
                    <a:pt x="19914" y="1106337"/>
                    <a:pt x="0" y="1058261"/>
                    <a:pt x="0" y="1008132"/>
                  </a:cubicBezTo>
                  <a:lnTo>
                    <a:pt x="0" y="189012"/>
                  </a:lnTo>
                  <a:cubicBezTo>
                    <a:pt x="0" y="138883"/>
                    <a:pt x="19914" y="90807"/>
                    <a:pt x="55360" y="55360"/>
                  </a:cubicBezTo>
                  <a:cubicBezTo>
                    <a:pt x="90807" y="19914"/>
                    <a:pt x="138883" y="0"/>
                    <a:pt x="189012" y="0"/>
                  </a:cubicBezTo>
                  <a:close/>
                </a:path>
              </a:pathLst>
            </a:custGeom>
            <a:solidFill>
              <a:srgbClr val="F6E4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38931" cy="1235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79683" y="4337879"/>
            <a:ext cx="2022280" cy="3914008"/>
            <a:chOff x="0" y="0"/>
            <a:chExt cx="618538" cy="11971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8538" cy="1197144"/>
            </a:xfrm>
            <a:custGeom>
              <a:avLst/>
              <a:gdLst/>
              <a:ahLst/>
              <a:cxnLst/>
              <a:rect r="r" b="b" t="t" l="l"/>
              <a:pathLst>
                <a:path h="1197144" w="618538">
                  <a:moveTo>
                    <a:pt x="195244" y="0"/>
                  </a:moveTo>
                  <a:lnTo>
                    <a:pt x="423294" y="0"/>
                  </a:lnTo>
                  <a:cubicBezTo>
                    <a:pt x="475076" y="0"/>
                    <a:pt x="524737" y="20570"/>
                    <a:pt x="561352" y="57186"/>
                  </a:cubicBezTo>
                  <a:cubicBezTo>
                    <a:pt x="597967" y="93801"/>
                    <a:pt x="618538" y="143462"/>
                    <a:pt x="618538" y="195244"/>
                  </a:cubicBezTo>
                  <a:lnTo>
                    <a:pt x="618538" y="1001900"/>
                  </a:lnTo>
                  <a:cubicBezTo>
                    <a:pt x="618538" y="1109731"/>
                    <a:pt x="531124" y="1197144"/>
                    <a:pt x="423294" y="1197144"/>
                  </a:cubicBezTo>
                  <a:lnTo>
                    <a:pt x="195244" y="1197144"/>
                  </a:lnTo>
                  <a:cubicBezTo>
                    <a:pt x="143462" y="1197144"/>
                    <a:pt x="93801" y="1176574"/>
                    <a:pt x="57186" y="1139959"/>
                  </a:cubicBezTo>
                  <a:cubicBezTo>
                    <a:pt x="20570" y="1103343"/>
                    <a:pt x="0" y="1053682"/>
                    <a:pt x="0" y="1001900"/>
                  </a:cubicBezTo>
                  <a:lnTo>
                    <a:pt x="0" y="195244"/>
                  </a:lnTo>
                  <a:cubicBezTo>
                    <a:pt x="0" y="143462"/>
                    <a:pt x="20570" y="93801"/>
                    <a:pt x="57186" y="57186"/>
                  </a:cubicBezTo>
                  <a:cubicBezTo>
                    <a:pt x="93801" y="20570"/>
                    <a:pt x="143462" y="0"/>
                    <a:pt x="195244" y="0"/>
                  </a:cubicBezTo>
                  <a:close/>
                </a:path>
              </a:pathLst>
            </a:custGeom>
            <a:solidFill>
              <a:srgbClr val="FEF4D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18538" cy="1235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72313" y="5906218"/>
            <a:ext cx="1316930" cy="1723415"/>
          </a:xfrm>
          <a:custGeom>
            <a:avLst/>
            <a:gdLst/>
            <a:ahLst/>
            <a:cxnLst/>
            <a:rect r="r" b="b" t="t" l="l"/>
            <a:pathLst>
              <a:path h="1723415" w="1316930">
                <a:moveTo>
                  <a:pt x="0" y="0"/>
                </a:moveTo>
                <a:lnTo>
                  <a:pt x="1316930" y="0"/>
                </a:lnTo>
                <a:lnTo>
                  <a:pt x="1316930" y="1723416"/>
                </a:lnTo>
                <a:lnTo>
                  <a:pt x="0" y="17234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723" t="-231557" r="-789361" b="-6284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057174" y="6266246"/>
            <a:ext cx="1316930" cy="1723415"/>
          </a:xfrm>
          <a:custGeom>
            <a:avLst/>
            <a:gdLst/>
            <a:ahLst/>
            <a:cxnLst/>
            <a:rect r="r" b="b" t="t" l="l"/>
            <a:pathLst>
              <a:path h="1723415" w="1316930">
                <a:moveTo>
                  <a:pt x="0" y="0"/>
                </a:moveTo>
                <a:lnTo>
                  <a:pt x="1316930" y="0"/>
                </a:lnTo>
                <a:lnTo>
                  <a:pt x="1316930" y="1723415"/>
                </a:lnTo>
                <a:lnTo>
                  <a:pt x="0" y="17234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1043" t="-234479" r="-666041" b="-59919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386061" y="6113846"/>
            <a:ext cx="1316930" cy="1723415"/>
          </a:xfrm>
          <a:custGeom>
            <a:avLst/>
            <a:gdLst/>
            <a:ahLst/>
            <a:cxnLst/>
            <a:rect r="r" b="b" t="t" l="l"/>
            <a:pathLst>
              <a:path h="1723415" w="1316930">
                <a:moveTo>
                  <a:pt x="0" y="0"/>
                </a:moveTo>
                <a:lnTo>
                  <a:pt x="1316930" y="0"/>
                </a:lnTo>
                <a:lnTo>
                  <a:pt x="1316930" y="1723415"/>
                </a:lnTo>
                <a:lnTo>
                  <a:pt x="0" y="17234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5652" t="-221281" r="-541433" b="-73118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715448" y="6294883"/>
            <a:ext cx="1316930" cy="1723415"/>
          </a:xfrm>
          <a:custGeom>
            <a:avLst/>
            <a:gdLst/>
            <a:ahLst/>
            <a:cxnLst/>
            <a:rect r="r" b="b" t="t" l="l"/>
            <a:pathLst>
              <a:path h="1723415" w="1316930">
                <a:moveTo>
                  <a:pt x="0" y="0"/>
                </a:moveTo>
                <a:lnTo>
                  <a:pt x="1316930" y="0"/>
                </a:lnTo>
                <a:lnTo>
                  <a:pt x="1316930" y="1723416"/>
                </a:lnTo>
                <a:lnTo>
                  <a:pt x="0" y="17234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7007" t="-225860" r="-420078" b="-68538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932358" y="6294883"/>
            <a:ext cx="1316930" cy="1723415"/>
          </a:xfrm>
          <a:custGeom>
            <a:avLst/>
            <a:gdLst/>
            <a:ahLst/>
            <a:cxnLst/>
            <a:rect r="r" b="b" t="t" l="l"/>
            <a:pathLst>
              <a:path h="1723415" w="1316930">
                <a:moveTo>
                  <a:pt x="0" y="0"/>
                </a:moveTo>
                <a:lnTo>
                  <a:pt x="1316930" y="0"/>
                </a:lnTo>
                <a:lnTo>
                  <a:pt x="1316930" y="1723416"/>
                </a:lnTo>
                <a:lnTo>
                  <a:pt x="0" y="17234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17911" t="-231793" r="-299174" b="-62605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28721" y="1739994"/>
            <a:ext cx="1051652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propose an AI-based campus navigation system that represents the entire campus as a graph of interconnected locations and uses the A* Search Algorithm to determine an optimal route between a selected source and destination.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8068" y="4532481"/>
            <a:ext cx="2165420" cy="25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9"/>
              </a:lnSpc>
              <a:spcBef>
                <a:spcPct val="0"/>
              </a:spcBef>
            </a:pPr>
            <a:r>
              <a:rPr lang="en-US" b="true" sz="1549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USER INPUT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0922" y="3741979"/>
            <a:ext cx="3263892" cy="39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9"/>
              </a:lnSpc>
              <a:spcBef>
                <a:spcPct val="0"/>
              </a:spcBef>
            </a:pPr>
            <a:r>
              <a:rPr lang="en-US" b="true" sz="234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 OVERFLOW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58778" y="4988099"/>
            <a:ext cx="1944001" cy="699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5"/>
              </a:lnSpc>
              <a:spcBef>
                <a:spcPct val="0"/>
              </a:spcBef>
            </a:pPr>
            <a:r>
              <a:rPr lang="en-US" sz="1353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The user selects the </a:t>
            </a:r>
            <a:r>
              <a:rPr lang="en-US" b="true" sz="1353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source and destination</a:t>
            </a:r>
            <a:r>
              <a:rPr lang="en-US" sz="1353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 from the campus map.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96609" y="4577924"/>
            <a:ext cx="2122643" cy="25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9"/>
              </a:lnSpc>
              <a:spcBef>
                <a:spcPct val="0"/>
              </a:spcBef>
            </a:pPr>
            <a:r>
              <a:rPr lang="en-US" b="true" sz="1549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A* ROUTE SEARCH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54655" y="5003746"/>
            <a:ext cx="1828592" cy="76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35"/>
              </a:lnSpc>
              <a:spcBef>
                <a:spcPct val="0"/>
              </a:spcBef>
            </a:pPr>
            <a:r>
              <a:rPr lang="en-US" sz="14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Compute the most effiecient path using f(n) =g(n) + h(n)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23522" y="4512796"/>
            <a:ext cx="1801763" cy="53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9"/>
              </a:lnSpc>
              <a:spcBef>
                <a:spcPct val="0"/>
              </a:spcBef>
            </a:pPr>
            <a:r>
              <a:rPr lang="en-US" b="true" sz="1549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CAMPUS GRAPH REPRESENTATION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3884" y="5176677"/>
            <a:ext cx="1663510" cy="93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5"/>
              </a:lnSpc>
              <a:spcBef>
                <a:spcPct val="0"/>
              </a:spcBef>
            </a:pPr>
            <a:r>
              <a:rPr lang="en-US" sz="13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the campus as graph with nodes as buildings  and edges as paths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72753" y="4512796"/>
            <a:ext cx="1961463" cy="53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9"/>
              </a:lnSpc>
              <a:spcBef>
                <a:spcPct val="0"/>
              </a:spcBef>
            </a:pPr>
            <a:r>
              <a:rPr lang="en-US" b="true" sz="1549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OPTIMAL ROUTE GENERATION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63883" y="5176677"/>
            <a:ext cx="1780694" cy="93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5"/>
              </a:lnSpc>
              <a:spcBef>
                <a:spcPct val="0"/>
              </a:spcBef>
            </a:pPr>
            <a:r>
              <a:rPr lang="en-US" sz="13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Generate the shortest and most effiecient route between te selected locations.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30885" y="5176677"/>
            <a:ext cx="1780694" cy="93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5"/>
              </a:lnSpc>
              <a:spcBef>
                <a:spcPct val="0"/>
              </a:spcBef>
            </a:pPr>
            <a:r>
              <a:rPr lang="en-US" sz="135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Display the optimal route on interactive campus map with step by step guidance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40500" y="4512796"/>
            <a:ext cx="1961463" cy="53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9"/>
              </a:lnSpc>
              <a:spcBef>
                <a:spcPct val="0"/>
              </a:spcBef>
            </a:pPr>
            <a:r>
              <a:rPr lang="en-US" b="true" sz="1549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ROUTE VISUALIZATION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283484" y="130638"/>
            <a:ext cx="11379888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Inter Bold"/>
                <a:ea typeface="Inter Bold"/>
                <a:cs typeface="Inter Bold"/>
                <a:sym typeface="Inter Bold"/>
              </a:rPr>
              <a:t>PROPOSED SOLUTION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813714" y="5424800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2211163" y="-1594186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1"/>
                </a:moveTo>
                <a:lnTo>
                  <a:pt x="9295205" y="5948931"/>
                </a:lnTo>
                <a:lnTo>
                  <a:pt x="9295205" y="0"/>
                </a:lnTo>
                <a:lnTo>
                  <a:pt x="0" y="0"/>
                </a:lnTo>
                <a:lnTo>
                  <a:pt x="0" y="594893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979328" y="1938612"/>
            <a:ext cx="3834386" cy="4907680"/>
            <a:chOff x="0" y="0"/>
            <a:chExt cx="1172791" cy="15010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2791" cy="1501070"/>
            </a:xfrm>
            <a:custGeom>
              <a:avLst/>
              <a:gdLst/>
              <a:ahLst/>
              <a:cxnLst/>
              <a:rect r="r" b="b" t="t" l="l"/>
              <a:pathLst>
                <a:path h="1501070" w="1172791">
                  <a:moveTo>
                    <a:pt x="48458" y="0"/>
                  </a:moveTo>
                  <a:lnTo>
                    <a:pt x="1124333" y="0"/>
                  </a:lnTo>
                  <a:cubicBezTo>
                    <a:pt x="1151096" y="0"/>
                    <a:pt x="1172791" y="21695"/>
                    <a:pt x="1172791" y="48458"/>
                  </a:cubicBezTo>
                  <a:lnTo>
                    <a:pt x="1172791" y="1452612"/>
                  </a:lnTo>
                  <a:cubicBezTo>
                    <a:pt x="1172791" y="1479375"/>
                    <a:pt x="1151096" y="1501070"/>
                    <a:pt x="1124333" y="1501070"/>
                  </a:cubicBezTo>
                  <a:lnTo>
                    <a:pt x="48458" y="1501070"/>
                  </a:lnTo>
                  <a:cubicBezTo>
                    <a:pt x="21695" y="1501070"/>
                    <a:pt x="0" y="1479375"/>
                    <a:pt x="0" y="1452612"/>
                  </a:cubicBezTo>
                  <a:lnTo>
                    <a:pt x="0" y="48458"/>
                  </a:lnTo>
                  <a:cubicBezTo>
                    <a:pt x="0" y="21695"/>
                    <a:pt x="21695" y="0"/>
                    <a:pt x="48458" y="0"/>
                  </a:cubicBezTo>
                  <a:close/>
                </a:path>
              </a:pathLst>
            </a:custGeom>
            <a:solidFill>
              <a:srgbClr val="DBF8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72791" cy="153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14382" y="3069669"/>
            <a:ext cx="850897" cy="879967"/>
            <a:chOff x="0" y="0"/>
            <a:chExt cx="1134530" cy="117328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34530" cy="1173289"/>
              <a:chOff x="0" y="0"/>
              <a:chExt cx="252338" cy="26095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52338" cy="260959"/>
              </a:xfrm>
              <a:custGeom>
                <a:avLst/>
                <a:gdLst/>
                <a:ahLst/>
                <a:cxnLst/>
                <a:rect r="r" b="b" t="t" l="l"/>
                <a:pathLst>
                  <a:path h="260959" w="252338">
                    <a:moveTo>
                      <a:pt x="126169" y="0"/>
                    </a:moveTo>
                    <a:lnTo>
                      <a:pt x="126169" y="0"/>
                    </a:lnTo>
                    <a:cubicBezTo>
                      <a:pt x="195850" y="0"/>
                      <a:pt x="252338" y="56488"/>
                      <a:pt x="252338" y="126169"/>
                    </a:cubicBezTo>
                    <a:lnTo>
                      <a:pt x="252338" y="134790"/>
                    </a:lnTo>
                    <a:cubicBezTo>
                      <a:pt x="252338" y="168252"/>
                      <a:pt x="239045" y="200343"/>
                      <a:pt x="215384" y="224005"/>
                    </a:cubicBezTo>
                    <a:cubicBezTo>
                      <a:pt x="191723" y="247666"/>
                      <a:pt x="159631" y="260959"/>
                      <a:pt x="126169" y="260959"/>
                    </a:cubicBezTo>
                    <a:lnTo>
                      <a:pt x="126169" y="260959"/>
                    </a:lnTo>
                    <a:cubicBezTo>
                      <a:pt x="92707" y="260959"/>
                      <a:pt x="60615" y="247666"/>
                      <a:pt x="36954" y="224005"/>
                    </a:cubicBezTo>
                    <a:cubicBezTo>
                      <a:pt x="13293" y="200343"/>
                      <a:pt x="0" y="168252"/>
                      <a:pt x="0" y="134790"/>
                    </a:cubicBezTo>
                    <a:lnTo>
                      <a:pt x="0" y="126169"/>
                    </a:lnTo>
                    <a:cubicBezTo>
                      <a:pt x="0" y="92707"/>
                      <a:pt x="13293" y="60615"/>
                      <a:pt x="36954" y="36954"/>
                    </a:cubicBezTo>
                    <a:cubicBezTo>
                      <a:pt x="60615" y="13293"/>
                      <a:pt x="92707" y="0"/>
                      <a:pt x="126169" y="0"/>
                    </a:cubicBezTo>
                    <a:close/>
                  </a:path>
                </a:pathLst>
              </a:custGeom>
              <a:solidFill>
                <a:srgbClr val="FDD1D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52338" cy="299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18140" y="267726"/>
              <a:ext cx="838903" cy="595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54"/>
                </a:lnSpc>
                <a:spcBef>
                  <a:spcPct val="0"/>
                </a:spcBef>
              </a:pPr>
              <a:r>
                <a:rPr lang="en-US" b="true" sz="268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f(n)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14382" y="4052580"/>
            <a:ext cx="785962" cy="800860"/>
            <a:chOff x="0" y="0"/>
            <a:chExt cx="252338" cy="2571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2338" cy="257121"/>
            </a:xfrm>
            <a:custGeom>
              <a:avLst/>
              <a:gdLst/>
              <a:ahLst/>
              <a:cxnLst/>
              <a:rect r="r" b="b" t="t" l="l"/>
              <a:pathLst>
                <a:path h="257121" w="252338">
                  <a:moveTo>
                    <a:pt x="126169" y="0"/>
                  </a:moveTo>
                  <a:lnTo>
                    <a:pt x="126169" y="0"/>
                  </a:lnTo>
                  <a:cubicBezTo>
                    <a:pt x="195850" y="0"/>
                    <a:pt x="252338" y="56488"/>
                    <a:pt x="252338" y="126169"/>
                  </a:cubicBezTo>
                  <a:lnTo>
                    <a:pt x="252338" y="130952"/>
                  </a:lnTo>
                  <a:cubicBezTo>
                    <a:pt x="252338" y="164414"/>
                    <a:pt x="239045" y="196506"/>
                    <a:pt x="215384" y="220167"/>
                  </a:cubicBezTo>
                  <a:cubicBezTo>
                    <a:pt x="191723" y="243828"/>
                    <a:pt x="159631" y="257121"/>
                    <a:pt x="126169" y="257121"/>
                  </a:cubicBezTo>
                  <a:lnTo>
                    <a:pt x="126169" y="257121"/>
                  </a:lnTo>
                  <a:cubicBezTo>
                    <a:pt x="56488" y="257121"/>
                    <a:pt x="0" y="200633"/>
                    <a:pt x="0" y="130952"/>
                  </a:cubicBezTo>
                  <a:lnTo>
                    <a:pt x="0" y="126169"/>
                  </a:lnTo>
                  <a:cubicBezTo>
                    <a:pt x="0" y="92707"/>
                    <a:pt x="13293" y="60615"/>
                    <a:pt x="36954" y="36954"/>
                  </a:cubicBezTo>
                  <a:cubicBezTo>
                    <a:pt x="60615" y="13293"/>
                    <a:pt x="92707" y="0"/>
                    <a:pt x="126169" y="0"/>
                  </a:cubicBezTo>
                  <a:close/>
                </a:path>
              </a:pathLst>
            </a:custGeom>
            <a:solidFill>
              <a:srgbClr val="FDD1D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52338" cy="295221"/>
            </a:xfrm>
            <a:prstGeom prst="rect">
              <a:avLst/>
            </a:prstGeom>
          </p:spPr>
          <p:txBody>
            <a:bodyPr anchor="ctr" rtlCol="false" tIns="46923" lIns="46923" bIns="46923" rIns="46923"/>
            <a:lstStyle/>
            <a:p>
              <a:pPr algn="ctr">
                <a:lnSpc>
                  <a:spcPts val="3499"/>
                </a:lnSpc>
              </a:pP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14382" y="5004206"/>
            <a:ext cx="785962" cy="800860"/>
            <a:chOff x="0" y="0"/>
            <a:chExt cx="252338" cy="2571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2338" cy="257121"/>
            </a:xfrm>
            <a:custGeom>
              <a:avLst/>
              <a:gdLst/>
              <a:ahLst/>
              <a:cxnLst/>
              <a:rect r="r" b="b" t="t" l="l"/>
              <a:pathLst>
                <a:path h="257121" w="252338">
                  <a:moveTo>
                    <a:pt x="126169" y="0"/>
                  </a:moveTo>
                  <a:lnTo>
                    <a:pt x="126169" y="0"/>
                  </a:lnTo>
                  <a:cubicBezTo>
                    <a:pt x="195850" y="0"/>
                    <a:pt x="252338" y="56488"/>
                    <a:pt x="252338" y="126169"/>
                  </a:cubicBezTo>
                  <a:lnTo>
                    <a:pt x="252338" y="130952"/>
                  </a:lnTo>
                  <a:cubicBezTo>
                    <a:pt x="252338" y="164414"/>
                    <a:pt x="239045" y="196506"/>
                    <a:pt x="215384" y="220167"/>
                  </a:cubicBezTo>
                  <a:cubicBezTo>
                    <a:pt x="191723" y="243828"/>
                    <a:pt x="159631" y="257121"/>
                    <a:pt x="126169" y="257121"/>
                  </a:cubicBezTo>
                  <a:lnTo>
                    <a:pt x="126169" y="257121"/>
                  </a:lnTo>
                  <a:cubicBezTo>
                    <a:pt x="56488" y="257121"/>
                    <a:pt x="0" y="200633"/>
                    <a:pt x="0" y="130952"/>
                  </a:cubicBezTo>
                  <a:lnTo>
                    <a:pt x="0" y="126169"/>
                  </a:lnTo>
                  <a:cubicBezTo>
                    <a:pt x="0" y="92707"/>
                    <a:pt x="13293" y="60615"/>
                    <a:pt x="36954" y="36954"/>
                  </a:cubicBezTo>
                  <a:cubicBezTo>
                    <a:pt x="60615" y="13293"/>
                    <a:pt x="92707" y="0"/>
                    <a:pt x="126169" y="0"/>
                  </a:cubicBezTo>
                  <a:close/>
                </a:path>
              </a:pathLst>
            </a:custGeom>
            <a:solidFill>
              <a:srgbClr val="C4FFD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52338" cy="295221"/>
            </a:xfrm>
            <a:prstGeom prst="rect">
              <a:avLst/>
            </a:prstGeom>
          </p:spPr>
          <p:txBody>
            <a:bodyPr anchor="ctr" rtlCol="false" tIns="46923" lIns="46923" bIns="46923" rIns="46923"/>
            <a:lstStyle/>
            <a:p>
              <a:pPr algn="ctr">
                <a:lnSpc>
                  <a:spcPts val="3499"/>
                </a:lnSpc>
              </a:pP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93825" y="5952425"/>
            <a:ext cx="785962" cy="800860"/>
            <a:chOff x="0" y="0"/>
            <a:chExt cx="252338" cy="2571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2338" cy="257121"/>
            </a:xfrm>
            <a:custGeom>
              <a:avLst/>
              <a:gdLst/>
              <a:ahLst/>
              <a:cxnLst/>
              <a:rect r="r" b="b" t="t" l="l"/>
              <a:pathLst>
                <a:path h="257121" w="252338">
                  <a:moveTo>
                    <a:pt x="126169" y="0"/>
                  </a:moveTo>
                  <a:lnTo>
                    <a:pt x="126169" y="0"/>
                  </a:lnTo>
                  <a:cubicBezTo>
                    <a:pt x="195850" y="0"/>
                    <a:pt x="252338" y="56488"/>
                    <a:pt x="252338" y="126169"/>
                  </a:cubicBezTo>
                  <a:lnTo>
                    <a:pt x="252338" y="130952"/>
                  </a:lnTo>
                  <a:cubicBezTo>
                    <a:pt x="252338" y="164414"/>
                    <a:pt x="239045" y="196506"/>
                    <a:pt x="215384" y="220167"/>
                  </a:cubicBezTo>
                  <a:cubicBezTo>
                    <a:pt x="191723" y="243828"/>
                    <a:pt x="159631" y="257121"/>
                    <a:pt x="126169" y="257121"/>
                  </a:cubicBezTo>
                  <a:lnTo>
                    <a:pt x="126169" y="257121"/>
                  </a:lnTo>
                  <a:cubicBezTo>
                    <a:pt x="56488" y="257121"/>
                    <a:pt x="0" y="200633"/>
                    <a:pt x="0" y="130952"/>
                  </a:cubicBezTo>
                  <a:lnTo>
                    <a:pt x="0" y="126169"/>
                  </a:lnTo>
                  <a:cubicBezTo>
                    <a:pt x="0" y="92707"/>
                    <a:pt x="13293" y="60615"/>
                    <a:pt x="36954" y="36954"/>
                  </a:cubicBezTo>
                  <a:cubicBezTo>
                    <a:pt x="60615" y="13293"/>
                    <a:pt x="92707" y="0"/>
                    <a:pt x="126169" y="0"/>
                  </a:cubicBezTo>
                  <a:close/>
                </a:path>
              </a:pathLst>
            </a:custGeom>
            <a:solidFill>
              <a:srgbClr val="F6E4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52338" cy="295221"/>
            </a:xfrm>
            <a:prstGeom prst="rect">
              <a:avLst/>
            </a:prstGeom>
          </p:spPr>
          <p:txBody>
            <a:bodyPr anchor="ctr" rtlCol="false" tIns="46923" lIns="46923" bIns="46923" rIns="46923"/>
            <a:lstStyle/>
            <a:p>
              <a:pPr algn="ctr">
                <a:lnSpc>
                  <a:spcPts val="3499"/>
                </a:lnSpc>
              </a:pPr>
            </a:p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83338" y="3069669"/>
            <a:ext cx="850897" cy="879967"/>
            <a:chOff x="0" y="0"/>
            <a:chExt cx="1134530" cy="117328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134530" cy="1173289"/>
              <a:chOff x="0" y="0"/>
              <a:chExt cx="252338" cy="26095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52338" cy="260959"/>
              </a:xfrm>
              <a:custGeom>
                <a:avLst/>
                <a:gdLst/>
                <a:ahLst/>
                <a:cxnLst/>
                <a:rect r="r" b="b" t="t" l="l"/>
                <a:pathLst>
                  <a:path h="260959" w="252338">
                    <a:moveTo>
                      <a:pt x="126169" y="0"/>
                    </a:moveTo>
                    <a:lnTo>
                      <a:pt x="126169" y="0"/>
                    </a:lnTo>
                    <a:cubicBezTo>
                      <a:pt x="195850" y="0"/>
                      <a:pt x="252338" y="56488"/>
                      <a:pt x="252338" y="126169"/>
                    </a:cubicBezTo>
                    <a:lnTo>
                      <a:pt x="252338" y="134790"/>
                    </a:lnTo>
                    <a:cubicBezTo>
                      <a:pt x="252338" y="168252"/>
                      <a:pt x="239045" y="200343"/>
                      <a:pt x="215384" y="224005"/>
                    </a:cubicBezTo>
                    <a:cubicBezTo>
                      <a:pt x="191723" y="247666"/>
                      <a:pt x="159631" y="260959"/>
                      <a:pt x="126169" y="260959"/>
                    </a:cubicBezTo>
                    <a:lnTo>
                      <a:pt x="126169" y="260959"/>
                    </a:lnTo>
                    <a:cubicBezTo>
                      <a:pt x="92707" y="260959"/>
                      <a:pt x="60615" y="247666"/>
                      <a:pt x="36954" y="224005"/>
                    </a:cubicBezTo>
                    <a:cubicBezTo>
                      <a:pt x="13293" y="200343"/>
                      <a:pt x="0" y="168252"/>
                      <a:pt x="0" y="134790"/>
                    </a:cubicBezTo>
                    <a:lnTo>
                      <a:pt x="0" y="126169"/>
                    </a:lnTo>
                    <a:cubicBezTo>
                      <a:pt x="0" y="92707"/>
                      <a:pt x="13293" y="60615"/>
                      <a:pt x="36954" y="36954"/>
                    </a:cubicBezTo>
                    <a:cubicBezTo>
                      <a:pt x="60615" y="13293"/>
                      <a:pt x="92707" y="0"/>
                      <a:pt x="126169" y="0"/>
                    </a:cubicBezTo>
                    <a:close/>
                  </a:path>
                </a:pathLst>
              </a:custGeom>
              <a:solidFill>
                <a:srgbClr val="DBFEEC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52338" cy="299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18140" y="276053"/>
              <a:ext cx="838903" cy="549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65"/>
                </a:lnSpc>
                <a:spcBef>
                  <a:spcPct val="0"/>
                </a:spcBef>
              </a:pPr>
              <a:r>
                <a:rPr lang="en-US" b="true" sz="2475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g(n)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602666" y="3069669"/>
            <a:ext cx="850897" cy="879967"/>
            <a:chOff x="0" y="0"/>
            <a:chExt cx="1134530" cy="117328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134530" cy="1173289"/>
              <a:chOff x="0" y="0"/>
              <a:chExt cx="252338" cy="26095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52338" cy="260959"/>
              </a:xfrm>
              <a:custGeom>
                <a:avLst/>
                <a:gdLst/>
                <a:ahLst/>
                <a:cxnLst/>
                <a:rect r="r" b="b" t="t" l="l"/>
                <a:pathLst>
                  <a:path h="260959" w="252338">
                    <a:moveTo>
                      <a:pt x="126169" y="0"/>
                    </a:moveTo>
                    <a:lnTo>
                      <a:pt x="126169" y="0"/>
                    </a:lnTo>
                    <a:cubicBezTo>
                      <a:pt x="195850" y="0"/>
                      <a:pt x="252338" y="56488"/>
                      <a:pt x="252338" y="126169"/>
                    </a:cubicBezTo>
                    <a:lnTo>
                      <a:pt x="252338" y="134790"/>
                    </a:lnTo>
                    <a:cubicBezTo>
                      <a:pt x="252338" y="168252"/>
                      <a:pt x="239045" y="200343"/>
                      <a:pt x="215384" y="224005"/>
                    </a:cubicBezTo>
                    <a:cubicBezTo>
                      <a:pt x="191723" y="247666"/>
                      <a:pt x="159631" y="260959"/>
                      <a:pt x="126169" y="260959"/>
                    </a:cubicBezTo>
                    <a:lnTo>
                      <a:pt x="126169" y="260959"/>
                    </a:lnTo>
                    <a:cubicBezTo>
                      <a:pt x="92707" y="260959"/>
                      <a:pt x="60615" y="247666"/>
                      <a:pt x="36954" y="224005"/>
                    </a:cubicBezTo>
                    <a:cubicBezTo>
                      <a:pt x="13293" y="200343"/>
                      <a:pt x="0" y="168252"/>
                      <a:pt x="0" y="134790"/>
                    </a:cubicBezTo>
                    <a:lnTo>
                      <a:pt x="0" y="126169"/>
                    </a:lnTo>
                    <a:cubicBezTo>
                      <a:pt x="0" y="92707"/>
                      <a:pt x="13293" y="60615"/>
                      <a:pt x="36954" y="36954"/>
                    </a:cubicBezTo>
                    <a:cubicBezTo>
                      <a:pt x="60615" y="13293"/>
                      <a:pt x="92707" y="0"/>
                      <a:pt x="126169" y="0"/>
                    </a:cubicBezTo>
                    <a:close/>
                  </a:path>
                </a:pathLst>
              </a:custGeom>
              <a:solidFill>
                <a:srgbClr val="F6E4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52338" cy="299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14410" y="267726"/>
              <a:ext cx="838903" cy="549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65"/>
                </a:lnSpc>
                <a:spcBef>
                  <a:spcPct val="0"/>
                </a:spcBef>
              </a:pPr>
              <a:r>
                <a:rPr lang="en-US" b="true" sz="2475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h(n)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11566" y="7479469"/>
            <a:ext cx="5416473" cy="2389655"/>
            <a:chOff x="0" y="0"/>
            <a:chExt cx="1656690" cy="7309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56690" cy="730903"/>
            </a:xfrm>
            <a:custGeom>
              <a:avLst/>
              <a:gdLst/>
              <a:ahLst/>
              <a:cxnLst/>
              <a:rect r="r" b="b" t="t" l="l"/>
              <a:pathLst>
                <a:path h="730903" w="1656690">
                  <a:moveTo>
                    <a:pt x="34304" y="0"/>
                  </a:moveTo>
                  <a:lnTo>
                    <a:pt x="1622386" y="0"/>
                  </a:lnTo>
                  <a:cubicBezTo>
                    <a:pt x="1631484" y="0"/>
                    <a:pt x="1640210" y="3614"/>
                    <a:pt x="1646643" y="10047"/>
                  </a:cubicBezTo>
                  <a:cubicBezTo>
                    <a:pt x="1653076" y="16481"/>
                    <a:pt x="1656690" y="25206"/>
                    <a:pt x="1656690" y="34304"/>
                  </a:cubicBezTo>
                  <a:lnTo>
                    <a:pt x="1656690" y="696600"/>
                  </a:lnTo>
                  <a:cubicBezTo>
                    <a:pt x="1656690" y="705697"/>
                    <a:pt x="1653076" y="714423"/>
                    <a:pt x="1646643" y="720856"/>
                  </a:cubicBezTo>
                  <a:cubicBezTo>
                    <a:pt x="1640210" y="727289"/>
                    <a:pt x="1631484" y="730903"/>
                    <a:pt x="1622386" y="730903"/>
                  </a:cubicBezTo>
                  <a:lnTo>
                    <a:pt x="34304" y="730903"/>
                  </a:lnTo>
                  <a:cubicBezTo>
                    <a:pt x="25206" y="730903"/>
                    <a:pt x="16481" y="727289"/>
                    <a:pt x="10047" y="720856"/>
                  </a:cubicBezTo>
                  <a:cubicBezTo>
                    <a:pt x="3614" y="714423"/>
                    <a:pt x="0" y="705697"/>
                    <a:pt x="0" y="696600"/>
                  </a:cubicBezTo>
                  <a:lnTo>
                    <a:pt x="0" y="34304"/>
                  </a:lnTo>
                  <a:cubicBezTo>
                    <a:pt x="0" y="25206"/>
                    <a:pt x="3614" y="16481"/>
                    <a:pt x="10047" y="10047"/>
                  </a:cubicBezTo>
                  <a:cubicBezTo>
                    <a:pt x="16481" y="3614"/>
                    <a:pt x="25206" y="0"/>
                    <a:pt x="34304" y="0"/>
                  </a:cubicBezTo>
                  <a:close/>
                </a:path>
              </a:pathLst>
            </a:custGeom>
            <a:solidFill>
              <a:srgbClr val="E0FFE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656690" cy="769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2547" y="5920664"/>
            <a:ext cx="425002" cy="432190"/>
            <a:chOff x="0" y="0"/>
            <a:chExt cx="799281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99281" cy="812800"/>
            </a:xfrm>
            <a:custGeom>
              <a:avLst/>
              <a:gdLst/>
              <a:ahLst/>
              <a:cxnLst/>
              <a:rect r="r" b="b" t="t" l="l"/>
              <a:pathLst>
                <a:path h="812800" w="799281">
                  <a:moveTo>
                    <a:pt x="399641" y="0"/>
                  </a:moveTo>
                  <a:cubicBezTo>
                    <a:pt x="178925" y="0"/>
                    <a:pt x="0" y="181951"/>
                    <a:pt x="0" y="406400"/>
                  </a:cubicBezTo>
                  <a:cubicBezTo>
                    <a:pt x="0" y="630849"/>
                    <a:pt x="178925" y="812800"/>
                    <a:pt x="399641" y="812800"/>
                  </a:cubicBezTo>
                  <a:cubicBezTo>
                    <a:pt x="620356" y="812800"/>
                    <a:pt x="799281" y="630849"/>
                    <a:pt x="799281" y="406400"/>
                  </a:cubicBezTo>
                  <a:cubicBezTo>
                    <a:pt x="799281" y="181951"/>
                    <a:pt x="620356" y="0"/>
                    <a:pt x="399641" y="0"/>
                  </a:cubicBezTo>
                  <a:close/>
                </a:path>
              </a:pathLst>
            </a:custGeom>
            <a:solidFill>
              <a:srgbClr val="00167A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4933" y="38100"/>
              <a:ext cx="64941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1.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2547" y="6710853"/>
            <a:ext cx="425002" cy="432190"/>
            <a:chOff x="0" y="0"/>
            <a:chExt cx="799281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99281" cy="812800"/>
            </a:xfrm>
            <a:custGeom>
              <a:avLst/>
              <a:gdLst/>
              <a:ahLst/>
              <a:cxnLst/>
              <a:rect r="r" b="b" t="t" l="l"/>
              <a:pathLst>
                <a:path h="812800" w="799281">
                  <a:moveTo>
                    <a:pt x="399641" y="0"/>
                  </a:moveTo>
                  <a:cubicBezTo>
                    <a:pt x="178925" y="0"/>
                    <a:pt x="0" y="181951"/>
                    <a:pt x="0" y="406400"/>
                  </a:cubicBezTo>
                  <a:cubicBezTo>
                    <a:pt x="0" y="630849"/>
                    <a:pt x="178925" y="812800"/>
                    <a:pt x="399641" y="812800"/>
                  </a:cubicBezTo>
                  <a:cubicBezTo>
                    <a:pt x="620356" y="812800"/>
                    <a:pt x="799281" y="630849"/>
                    <a:pt x="799281" y="406400"/>
                  </a:cubicBezTo>
                  <a:cubicBezTo>
                    <a:pt x="799281" y="181951"/>
                    <a:pt x="620356" y="0"/>
                    <a:pt x="399641" y="0"/>
                  </a:cubicBezTo>
                  <a:close/>
                </a:path>
              </a:pathLst>
            </a:custGeom>
            <a:solidFill>
              <a:srgbClr val="00167A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4933" y="38100"/>
              <a:ext cx="64941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32547" y="7911003"/>
            <a:ext cx="425002" cy="432190"/>
            <a:chOff x="0" y="0"/>
            <a:chExt cx="799281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99281" cy="812800"/>
            </a:xfrm>
            <a:custGeom>
              <a:avLst/>
              <a:gdLst/>
              <a:ahLst/>
              <a:cxnLst/>
              <a:rect r="r" b="b" t="t" l="l"/>
              <a:pathLst>
                <a:path h="812800" w="799281">
                  <a:moveTo>
                    <a:pt x="399641" y="0"/>
                  </a:moveTo>
                  <a:cubicBezTo>
                    <a:pt x="178925" y="0"/>
                    <a:pt x="0" y="181951"/>
                    <a:pt x="0" y="406400"/>
                  </a:cubicBezTo>
                  <a:cubicBezTo>
                    <a:pt x="0" y="630849"/>
                    <a:pt x="178925" y="812800"/>
                    <a:pt x="399641" y="812800"/>
                  </a:cubicBezTo>
                  <a:cubicBezTo>
                    <a:pt x="620356" y="812800"/>
                    <a:pt x="799281" y="630849"/>
                    <a:pt x="799281" y="406400"/>
                  </a:cubicBezTo>
                  <a:cubicBezTo>
                    <a:pt x="799281" y="181951"/>
                    <a:pt x="620356" y="0"/>
                    <a:pt x="399641" y="0"/>
                  </a:cubicBezTo>
                  <a:close/>
                </a:path>
              </a:pathLst>
            </a:custGeom>
            <a:solidFill>
              <a:srgbClr val="00167A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4933" y="38100"/>
              <a:ext cx="64941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32547" y="8733719"/>
            <a:ext cx="425002" cy="432190"/>
            <a:chOff x="0" y="0"/>
            <a:chExt cx="799281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99281" cy="812800"/>
            </a:xfrm>
            <a:custGeom>
              <a:avLst/>
              <a:gdLst/>
              <a:ahLst/>
              <a:cxnLst/>
              <a:rect r="r" b="b" t="t" l="l"/>
              <a:pathLst>
                <a:path h="812800" w="799281">
                  <a:moveTo>
                    <a:pt x="399641" y="0"/>
                  </a:moveTo>
                  <a:cubicBezTo>
                    <a:pt x="178925" y="0"/>
                    <a:pt x="0" y="181951"/>
                    <a:pt x="0" y="406400"/>
                  </a:cubicBezTo>
                  <a:cubicBezTo>
                    <a:pt x="0" y="630849"/>
                    <a:pt x="178925" y="812800"/>
                    <a:pt x="399641" y="812800"/>
                  </a:cubicBezTo>
                  <a:cubicBezTo>
                    <a:pt x="620356" y="812800"/>
                    <a:pt x="799281" y="630849"/>
                    <a:pt x="799281" y="406400"/>
                  </a:cubicBezTo>
                  <a:cubicBezTo>
                    <a:pt x="799281" y="181951"/>
                    <a:pt x="620356" y="0"/>
                    <a:pt x="399641" y="0"/>
                  </a:cubicBezTo>
                  <a:close/>
                </a:path>
              </a:pathLst>
            </a:custGeom>
            <a:solidFill>
              <a:srgbClr val="00167A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4933" y="38100"/>
              <a:ext cx="64941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4.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2409896" y="1742143"/>
            <a:ext cx="5493721" cy="6657123"/>
          </a:xfrm>
          <a:custGeom>
            <a:avLst/>
            <a:gdLst/>
            <a:ahLst/>
            <a:cxnLst/>
            <a:rect r="r" b="b" t="t" l="l"/>
            <a:pathLst>
              <a:path h="6657123" w="5493721">
                <a:moveTo>
                  <a:pt x="0" y="0"/>
                </a:moveTo>
                <a:lnTo>
                  <a:pt x="5493721" y="0"/>
                </a:lnTo>
                <a:lnTo>
                  <a:pt x="5493721" y="6657123"/>
                </a:lnTo>
                <a:lnTo>
                  <a:pt x="0" y="66571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7372" t="-14980" r="-4084" b="-3888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3454056" y="314839"/>
            <a:ext cx="11379888" cy="137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002B58"/>
                </a:solidFill>
                <a:latin typeface="Inter Bold"/>
                <a:ea typeface="Inter Bold"/>
                <a:cs typeface="Inter Bold"/>
                <a:sym typeface="Inter Bold"/>
              </a:rPr>
              <a:t>ALGORITHM USED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2936956"/>
            <a:ext cx="670972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The A* algorithm searches through the campus graph by evaluating each possible node based on its </a:t>
            </a:r>
            <a:r>
              <a:rPr lang="en-US" sz="2499" b="true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actual travel cost</a:t>
            </a: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2499" b="true">
                <a:solidFill>
                  <a:srgbClr val="0D0D0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estimated distance to the destination</a:t>
            </a: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76624" y="5904792"/>
            <a:ext cx="409199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Start from the source node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712802" y="7631869"/>
            <a:ext cx="547801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Finds the optimal (least-cost ) route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712802" y="8875199"/>
            <a:ext cx="547801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Suitable for real-time campus navigation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748518" y="9338556"/>
            <a:ext cx="547801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Works well with weighted graphs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724304" y="8078274"/>
            <a:ext cx="5403735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Efficient and faster compared to uninformed search algorithm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776624" y="6698543"/>
            <a:ext cx="4400251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Evaluate the neighbouring nodes using f(n) = g(n) + h(n)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776624" y="7930443"/>
            <a:ext cx="4934942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Select the node with lowest f(n)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776624" y="8733719"/>
            <a:ext cx="493494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D0D0D"/>
                </a:solidFill>
                <a:latin typeface="Inter"/>
                <a:ea typeface="Inter"/>
                <a:cs typeface="Inter"/>
                <a:sym typeface="Inter"/>
              </a:rPr>
              <a:t>Repeat the process until the destination node is reached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28700" y="1890987"/>
            <a:ext cx="6709728" cy="8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HOW THE ALGORITHM FINDS THE OPTIMAL ROUTE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8700" y="5089606"/>
            <a:ext cx="6950628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HOW A* WORKS ?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748518" y="6919675"/>
            <a:ext cx="3239182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A* SEARCH ?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639830" y="2005697"/>
            <a:ext cx="2340977" cy="93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EVALUATION FUNCTION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296225" y="4230017"/>
            <a:ext cx="581162" cy="35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f(n)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296225" y="5181643"/>
            <a:ext cx="581162" cy="35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g(n)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275668" y="6129862"/>
            <a:ext cx="581162" cy="35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0"/>
              </a:lnSpc>
              <a:spcBef>
                <a:spcPct val="0"/>
              </a:spcBef>
            </a:pPr>
            <a:r>
              <a:rPr lang="en-US" b="true" sz="206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h(n)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099499" y="3362698"/>
            <a:ext cx="244543" cy="46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=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296179" y="3373481"/>
            <a:ext cx="244543" cy="46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4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099499" y="4157823"/>
            <a:ext cx="2499718" cy="54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44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Total estimated cost from start to goal through node 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099499" y="5089606"/>
            <a:ext cx="2499718" cy="54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44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Actual cost from the start node to node 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096586" y="6037825"/>
            <a:ext cx="2499718" cy="54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44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Heuristic cost (estimated cost from node n to goal)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792468" y="5814180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6" y="5948932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2509394" y="-1883634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0" y="5948931"/>
                </a:moveTo>
                <a:lnTo>
                  <a:pt x="9295205" y="5948931"/>
                </a:lnTo>
                <a:lnTo>
                  <a:pt x="9295205" y="0"/>
                </a:lnTo>
                <a:lnTo>
                  <a:pt x="0" y="0"/>
                </a:lnTo>
                <a:lnTo>
                  <a:pt x="0" y="594893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54773" y="1417615"/>
            <a:ext cx="8136157" cy="2647682"/>
            <a:chOff x="0" y="0"/>
            <a:chExt cx="2488537" cy="8098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88537" cy="809824"/>
            </a:xfrm>
            <a:custGeom>
              <a:avLst/>
              <a:gdLst/>
              <a:ahLst/>
              <a:cxnLst/>
              <a:rect r="r" b="b" t="t" l="l"/>
              <a:pathLst>
                <a:path h="809824" w="2488537">
                  <a:moveTo>
                    <a:pt x="48529" y="0"/>
                  </a:moveTo>
                  <a:lnTo>
                    <a:pt x="2440008" y="0"/>
                  </a:lnTo>
                  <a:cubicBezTo>
                    <a:pt x="2452879" y="0"/>
                    <a:pt x="2465222" y="5113"/>
                    <a:pt x="2474323" y="14214"/>
                  </a:cubicBezTo>
                  <a:cubicBezTo>
                    <a:pt x="2483424" y="23315"/>
                    <a:pt x="2488537" y="35658"/>
                    <a:pt x="2488537" y="48529"/>
                  </a:cubicBezTo>
                  <a:lnTo>
                    <a:pt x="2488537" y="761295"/>
                  </a:lnTo>
                  <a:cubicBezTo>
                    <a:pt x="2488537" y="788097"/>
                    <a:pt x="2466810" y="809824"/>
                    <a:pt x="2440008" y="809824"/>
                  </a:cubicBezTo>
                  <a:lnTo>
                    <a:pt x="48529" y="809824"/>
                  </a:lnTo>
                  <a:cubicBezTo>
                    <a:pt x="21727" y="809824"/>
                    <a:pt x="0" y="788097"/>
                    <a:pt x="0" y="761295"/>
                  </a:cubicBezTo>
                  <a:lnTo>
                    <a:pt x="0" y="48529"/>
                  </a:lnTo>
                  <a:cubicBezTo>
                    <a:pt x="0" y="21727"/>
                    <a:pt x="21727" y="0"/>
                    <a:pt x="48529" y="0"/>
                  </a:cubicBezTo>
                  <a:close/>
                </a:path>
              </a:pathLst>
            </a:custGeom>
            <a:solidFill>
              <a:srgbClr val="D9EC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88537" cy="847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5287" y="4208172"/>
            <a:ext cx="8015130" cy="2840990"/>
            <a:chOff x="0" y="0"/>
            <a:chExt cx="2451519" cy="8689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51519" cy="868949"/>
            </a:xfrm>
            <a:custGeom>
              <a:avLst/>
              <a:gdLst/>
              <a:ahLst/>
              <a:cxnLst/>
              <a:rect r="r" b="b" t="t" l="l"/>
              <a:pathLst>
                <a:path h="868949" w="2451519">
                  <a:moveTo>
                    <a:pt x="49262" y="0"/>
                  </a:moveTo>
                  <a:lnTo>
                    <a:pt x="2402258" y="0"/>
                  </a:lnTo>
                  <a:cubicBezTo>
                    <a:pt x="2415323" y="0"/>
                    <a:pt x="2427853" y="5190"/>
                    <a:pt x="2437091" y="14428"/>
                  </a:cubicBezTo>
                  <a:cubicBezTo>
                    <a:pt x="2446329" y="23667"/>
                    <a:pt x="2451519" y="36197"/>
                    <a:pt x="2451519" y="49262"/>
                  </a:cubicBezTo>
                  <a:lnTo>
                    <a:pt x="2451519" y="819688"/>
                  </a:lnTo>
                  <a:cubicBezTo>
                    <a:pt x="2451519" y="846894"/>
                    <a:pt x="2429464" y="868949"/>
                    <a:pt x="2402258" y="868949"/>
                  </a:cubicBezTo>
                  <a:lnTo>
                    <a:pt x="49262" y="868949"/>
                  </a:lnTo>
                  <a:cubicBezTo>
                    <a:pt x="36197" y="868949"/>
                    <a:pt x="23667" y="863759"/>
                    <a:pt x="14428" y="854521"/>
                  </a:cubicBezTo>
                  <a:cubicBezTo>
                    <a:pt x="5190" y="845283"/>
                    <a:pt x="0" y="832753"/>
                    <a:pt x="0" y="819688"/>
                  </a:cubicBezTo>
                  <a:lnTo>
                    <a:pt x="0" y="49262"/>
                  </a:lnTo>
                  <a:cubicBezTo>
                    <a:pt x="0" y="36197"/>
                    <a:pt x="5190" y="23667"/>
                    <a:pt x="14428" y="14428"/>
                  </a:cubicBezTo>
                  <a:cubicBezTo>
                    <a:pt x="23667" y="5190"/>
                    <a:pt x="36197" y="0"/>
                    <a:pt x="49262" y="0"/>
                  </a:cubicBezTo>
                  <a:close/>
                </a:path>
              </a:pathLst>
            </a:custGeom>
            <a:solidFill>
              <a:srgbClr val="EDFFE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451519" cy="907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4773" y="7232368"/>
            <a:ext cx="8135261" cy="2763249"/>
            <a:chOff x="0" y="0"/>
            <a:chExt cx="2488263" cy="8451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88263" cy="845171"/>
            </a:xfrm>
            <a:custGeom>
              <a:avLst/>
              <a:gdLst/>
              <a:ahLst/>
              <a:cxnLst/>
              <a:rect r="r" b="b" t="t" l="l"/>
              <a:pathLst>
                <a:path h="845171" w="2488263">
                  <a:moveTo>
                    <a:pt x="48534" y="0"/>
                  </a:moveTo>
                  <a:lnTo>
                    <a:pt x="2439729" y="0"/>
                  </a:lnTo>
                  <a:cubicBezTo>
                    <a:pt x="2452601" y="0"/>
                    <a:pt x="2464946" y="5113"/>
                    <a:pt x="2474047" y="14215"/>
                  </a:cubicBezTo>
                  <a:cubicBezTo>
                    <a:pt x="2483149" y="23317"/>
                    <a:pt x="2488263" y="35662"/>
                    <a:pt x="2488263" y="48534"/>
                  </a:cubicBezTo>
                  <a:lnTo>
                    <a:pt x="2488263" y="796637"/>
                  </a:lnTo>
                  <a:cubicBezTo>
                    <a:pt x="2488263" y="809509"/>
                    <a:pt x="2483149" y="821854"/>
                    <a:pt x="2474047" y="830956"/>
                  </a:cubicBezTo>
                  <a:cubicBezTo>
                    <a:pt x="2464946" y="840058"/>
                    <a:pt x="2452601" y="845171"/>
                    <a:pt x="2439729" y="845171"/>
                  </a:cubicBezTo>
                  <a:lnTo>
                    <a:pt x="48534" y="845171"/>
                  </a:lnTo>
                  <a:cubicBezTo>
                    <a:pt x="21729" y="845171"/>
                    <a:pt x="0" y="823442"/>
                    <a:pt x="0" y="796637"/>
                  </a:cubicBezTo>
                  <a:lnTo>
                    <a:pt x="0" y="48534"/>
                  </a:lnTo>
                  <a:cubicBezTo>
                    <a:pt x="0" y="35662"/>
                    <a:pt x="5113" y="23317"/>
                    <a:pt x="14215" y="14215"/>
                  </a:cubicBezTo>
                  <a:cubicBezTo>
                    <a:pt x="23317" y="5113"/>
                    <a:pt x="35662" y="0"/>
                    <a:pt x="48534" y="0"/>
                  </a:cubicBezTo>
                  <a:close/>
                </a:path>
              </a:pathLst>
            </a:custGeom>
            <a:solidFill>
              <a:srgbClr val="FEF4D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488263" cy="8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640227" y="7330931"/>
            <a:ext cx="9456487" cy="2763249"/>
            <a:chOff x="0" y="0"/>
            <a:chExt cx="2892375" cy="8451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92375" cy="845171"/>
            </a:xfrm>
            <a:custGeom>
              <a:avLst/>
              <a:gdLst/>
              <a:ahLst/>
              <a:cxnLst/>
              <a:rect r="r" b="b" t="t" l="l"/>
              <a:pathLst>
                <a:path h="845171" w="2892375">
                  <a:moveTo>
                    <a:pt x="41753" y="0"/>
                  </a:moveTo>
                  <a:lnTo>
                    <a:pt x="2850622" y="0"/>
                  </a:lnTo>
                  <a:cubicBezTo>
                    <a:pt x="2873681" y="0"/>
                    <a:pt x="2892375" y="18694"/>
                    <a:pt x="2892375" y="41753"/>
                  </a:cubicBezTo>
                  <a:lnTo>
                    <a:pt x="2892375" y="803418"/>
                  </a:lnTo>
                  <a:cubicBezTo>
                    <a:pt x="2892375" y="814492"/>
                    <a:pt x="2887976" y="825112"/>
                    <a:pt x="2880146" y="832942"/>
                  </a:cubicBezTo>
                  <a:cubicBezTo>
                    <a:pt x="2872315" y="840772"/>
                    <a:pt x="2861695" y="845171"/>
                    <a:pt x="2850622" y="845171"/>
                  </a:cubicBezTo>
                  <a:lnTo>
                    <a:pt x="41753" y="845171"/>
                  </a:lnTo>
                  <a:cubicBezTo>
                    <a:pt x="30680" y="845171"/>
                    <a:pt x="20059" y="840772"/>
                    <a:pt x="12229" y="832942"/>
                  </a:cubicBezTo>
                  <a:cubicBezTo>
                    <a:pt x="4399" y="825112"/>
                    <a:pt x="0" y="814492"/>
                    <a:pt x="0" y="803418"/>
                  </a:cubicBezTo>
                  <a:lnTo>
                    <a:pt x="0" y="41753"/>
                  </a:lnTo>
                  <a:cubicBezTo>
                    <a:pt x="0" y="30680"/>
                    <a:pt x="4399" y="20059"/>
                    <a:pt x="12229" y="12229"/>
                  </a:cubicBezTo>
                  <a:cubicBezTo>
                    <a:pt x="20059" y="4399"/>
                    <a:pt x="30680" y="0"/>
                    <a:pt x="41753" y="0"/>
                  </a:cubicBezTo>
                  <a:close/>
                </a:path>
              </a:pathLst>
            </a:custGeom>
            <a:solidFill>
              <a:srgbClr val="EBF5F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92375" cy="883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16958" y="4830472"/>
            <a:ext cx="2156505" cy="1966125"/>
            <a:chOff x="0" y="0"/>
            <a:chExt cx="567968" cy="5178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7968" cy="517827"/>
            </a:xfrm>
            <a:custGeom>
              <a:avLst/>
              <a:gdLst/>
              <a:ahLst/>
              <a:cxnLst/>
              <a:rect r="r" b="b" t="t" l="l"/>
              <a:pathLst>
                <a:path h="517827" w="567968">
                  <a:moveTo>
                    <a:pt x="0" y="0"/>
                  </a:moveTo>
                  <a:lnTo>
                    <a:pt x="567968" y="0"/>
                  </a:lnTo>
                  <a:lnTo>
                    <a:pt x="567968" y="517827"/>
                  </a:lnTo>
                  <a:lnTo>
                    <a:pt x="0" y="517827"/>
                  </a:lnTo>
                  <a:close/>
                </a:path>
              </a:pathLst>
            </a:custGeom>
            <a:solidFill>
              <a:srgbClr val="FFFBF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67968" cy="555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23957" y="4834447"/>
            <a:ext cx="2152650" cy="1962150"/>
            <a:chOff x="0" y="0"/>
            <a:chExt cx="566953" cy="5167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6953" cy="516780"/>
            </a:xfrm>
            <a:custGeom>
              <a:avLst/>
              <a:gdLst/>
              <a:ahLst/>
              <a:cxnLst/>
              <a:rect r="r" b="b" t="t" l="l"/>
              <a:pathLst>
                <a:path h="516780" w="566953">
                  <a:moveTo>
                    <a:pt x="0" y="0"/>
                  </a:moveTo>
                  <a:lnTo>
                    <a:pt x="566953" y="0"/>
                  </a:lnTo>
                  <a:lnTo>
                    <a:pt x="566953" y="516780"/>
                  </a:lnTo>
                  <a:lnTo>
                    <a:pt x="0" y="516780"/>
                  </a:lnTo>
                  <a:close/>
                </a:path>
              </a:pathLst>
            </a:custGeom>
            <a:solidFill>
              <a:srgbClr val="F6F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66953" cy="554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96927" y="4832460"/>
            <a:ext cx="2152650" cy="1962150"/>
            <a:chOff x="0" y="0"/>
            <a:chExt cx="566953" cy="5167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6953" cy="516780"/>
            </a:xfrm>
            <a:custGeom>
              <a:avLst/>
              <a:gdLst/>
              <a:ahLst/>
              <a:cxnLst/>
              <a:rect r="r" b="b" t="t" l="l"/>
              <a:pathLst>
                <a:path h="516780" w="566953">
                  <a:moveTo>
                    <a:pt x="0" y="0"/>
                  </a:moveTo>
                  <a:lnTo>
                    <a:pt x="566953" y="0"/>
                  </a:lnTo>
                  <a:lnTo>
                    <a:pt x="566953" y="516780"/>
                  </a:lnTo>
                  <a:lnTo>
                    <a:pt x="0" y="516780"/>
                  </a:lnTo>
                  <a:close/>
                </a:path>
              </a:pathLst>
            </a:custGeom>
            <a:solidFill>
              <a:srgbClr val="F3FDF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66953" cy="554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640227" y="1417615"/>
            <a:ext cx="4283498" cy="5722816"/>
            <a:chOff x="0" y="0"/>
            <a:chExt cx="1310157" cy="17503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0157" cy="1750389"/>
            </a:xfrm>
            <a:custGeom>
              <a:avLst/>
              <a:gdLst/>
              <a:ahLst/>
              <a:cxnLst/>
              <a:rect r="r" b="b" t="t" l="l"/>
              <a:pathLst>
                <a:path h="1750389" w="1310157">
                  <a:moveTo>
                    <a:pt x="43377" y="0"/>
                  </a:moveTo>
                  <a:lnTo>
                    <a:pt x="1266780" y="0"/>
                  </a:lnTo>
                  <a:cubicBezTo>
                    <a:pt x="1278284" y="0"/>
                    <a:pt x="1289317" y="4570"/>
                    <a:pt x="1297452" y="12705"/>
                  </a:cubicBezTo>
                  <a:cubicBezTo>
                    <a:pt x="1305587" y="20840"/>
                    <a:pt x="1310157" y="31873"/>
                    <a:pt x="1310157" y="43377"/>
                  </a:cubicBezTo>
                  <a:lnTo>
                    <a:pt x="1310157" y="1707012"/>
                  </a:lnTo>
                  <a:cubicBezTo>
                    <a:pt x="1310157" y="1730968"/>
                    <a:pt x="1290736" y="1750389"/>
                    <a:pt x="1266780" y="1750389"/>
                  </a:cubicBezTo>
                  <a:lnTo>
                    <a:pt x="43377" y="1750389"/>
                  </a:lnTo>
                  <a:cubicBezTo>
                    <a:pt x="19421" y="1750389"/>
                    <a:pt x="0" y="1730968"/>
                    <a:pt x="0" y="1707012"/>
                  </a:cubicBezTo>
                  <a:lnTo>
                    <a:pt x="0" y="43377"/>
                  </a:lnTo>
                  <a:cubicBezTo>
                    <a:pt x="0" y="19421"/>
                    <a:pt x="19421" y="0"/>
                    <a:pt x="43377" y="0"/>
                  </a:cubicBezTo>
                  <a:close/>
                </a:path>
              </a:pathLst>
            </a:custGeom>
            <a:solidFill>
              <a:srgbClr val="F5F2F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310157" cy="1788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640227" y="1471905"/>
            <a:ext cx="4283498" cy="854196"/>
            <a:chOff x="0" y="0"/>
            <a:chExt cx="1128164" cy="2249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8164" cy="224973"/>
            </a:xfrm>
            <a:custGeom>
              <a:avLst/>
              <a:gdLst/>
              <a:ahLst/>
              <a:cxnLst/>
              <a:rect r="r" b="b" t="t" l="l"/>
              <a:pathLst>
                <a:path h="224973" w="1128164">
                  <a:moveTo>
                    <a:pt x="27111" y="0"/>
                  </a:moveTo>
                  <a:lnTo>
                    <a:pt x="1101053" y="0"/>
                  </a:lnTo>
                  <a:cubicBezTo>
                    <a:pt x="1116026" y="0"/>
                    <a:pt x="1128164" y="12138"/>
                    <a:pt x="1128164" y="27111"/>
                  </a:cubicBezTo>
                  <a:lnTo>
                    <a:pt x="1128164" y="197863"/>
                  </a:lnTo>
                  <a:cubicBezTo>
                    <a:pt x="1128164" y="212835"/>
                    <a:pt x="1116026" y="224973"/>
                    <a:pt x="1101053" y="224973"/>
                  </a:cubicBezTo>
                  <a:lnTo>
                    <a:pt x="27111" y="224973"/>
                  </a:lnTo>
                  <a:cubicBezTo>
                    <a:pt x="12138" y="224973"/>
                    <a:pt x="0" y="212835"/>
                    <a:pt x="0" y="197863"/>
                  </a:cubicBezTo>
                  <a:lnTo>
                    <a:pt x="0" y="27111"/>
                  </a:lnTo>
                  <a:cubicBezTo>
                    <a:pt x="0" y="12138"/>
                    <a:pt x="12138" y="0"/>
                    <a:pt x="27111" y="0"/>
                  </a:cubicBezTo>
                  <a:close/>
                </a:path>
              </a:pathLst>
            </a:custGeom>
            <a:solidFill>
              <a:srgbClr val="EDEAF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128164" cy="263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8757897" y="2326101"/>
            <a:ext cx="1644339" cy="4470497"/>
          </a:xfrm>
          <a:custGeom>
            <a:avLst/>
            <a:gdLst/>
            <a:ahLst/>
            <a:cxnLst/>
            <a:rect r="r" b="b" t="t" l="l"/>
            <a:pathLst>
              <a:path h="4470497" w="1644339">
                <a:moveTo>
                  <a:pt x="0" y="0"/>
                </a:moveTo>
                <a:lnTo>
                  <a:pt x="1644339" y="0"/>
                </a:lnTo>
                <a:lnTo>
                  <a:pt x="1644339" y="4470496"/>
                </a:lnTo>
                <a:lnTo>
                  <a:pt x="0" y="44704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32415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171375" y="1322237"/>
            <a:ext cx="4925339" cy="5732771"/>
          </a:xfrm>
          <a:custGeom>
            <a:avLst/>
            <a:gdLst/>
            <a:ahLst/>
            <a:cxnLst/>
            <a:rect r="r" b="b" t="t" l="l"/>
            <a:pathLst>
              <a:path h="5732771" w="4925339">
                <a:moveTo>
                  <a:pt x="0" y="0"/>
                </a:moveTo>
                <a:lnTo>
                  <a:pt x="4925339" y="0"/>
                </a:lnTo>
                <a:lnTo>
                  <a:pt x="4925339" y="5732771"/>
                </a:lnTo>
                <a:lnTo>
                  <a:pt x="0" y="57327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8640227" y="7235159"/>
            <a:ext cx="9243651" cy="854196"/>
            <a:chOff x="0" y="0"/>
            <a:chExt cx="2434542" cy="22497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4542" cy="224973"/>
            </a:xfrm>
            <a:custGeom>
              <a:avLst/>
              <a:gdLst/>
              <a:ahLst/>
              <a:cxnLst/>
              <a:rect r="r" b="b" t="t" l="l"/>
              <a:pathLst>
                <a:path h="224973" w="2434542">
                  <a:moveTo>
                    <a:pt x="12563" y="0"/>
                  </a:moveTo>
                  <a:lnTo>
                    <a:pt x="2421979" y="0"/>
                  </a:lnTo>
                  <a:cubicBezTo>
                    <a:pt x="2425311" y="0"/>
                    <a:pt x="2428506" y="1324"/>
                    <a:pt x="2430862" y="3680"/>
                  </a:cubicBezTo>
                  <a:cubicBezTo>
                    <a:pt x="2433218" y="6036"/>
                    <a:pt x="2434542" y="9231"/>
                    <a:pt x="2434542" y="12563"/>
                  </a:cubicBezTo>
                  <a:lnTo>
                    <a:pt x="2434542" y="212410"/>
                  </a:lnTo>
                  <a:cubicBezTo>
                    <a:pt x="2434542" y="215742"/>
                    <a:pt x="2433218" y="218938"/>
                    <a:pt x="2430862" y="221294"/>
                  </a:cubicBezTo>
                  <a:cubicBezTo>
                    <a:pt x="2428506" y="223650"/>
                    <a:pt x="2425311" y="224973"/>
                    <a:pt x="2421979" y="224973"/>
                  </a:cubicBezTo>
                  <a:lnTo>
                    <a:pt x="12563" y="224973"/>
                  </a:lnTo>
                  <a:cubicBezTo>
                    <a:pt x="9231" y="224973"/>
                    <a:pt x="6036" y="223650"/>
                    <a:pt x="3680" y="221294"/>
                  </a:cubicBezTo>
                  <a:cubicBezTo>
                    <a:pt x="1324" y="218938"/>
                    <a:pt x="0" y="215742"/>
                    <a:pt x="0" y="212410"/>
                  </a:cubicBezTo>
                  <a:lnTo>
                    <a:pt x="0" y="12563"/>
                  </a:lnTo>
                  <a:cubicBezTo>
                    <a:pt x="0" y="9231"/>
                    <a:pt x="1324" y="6036"/>
                    <a:pt x="3680" y="3680"/>
                  </a:cubicBezTo>
                  <a:cubicBezTo>
                    <a:pt x="6036" y="1324"/>
                    <a:pt x="9231" y="0"/>
                    <a:pt x="12563" y="0"/>
                  </a:cubicBezTo>
                  <a:close/>
                </a:path>
              </a:pathLst>
            </a:custGeom>
            <a:solidFill>
              <a:srgbClr val="E0EEF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434542" cy="263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696234" y="4914841"/>
            <a:ext cx="1997953" cy="836261"/>
          </a:xfrm>
          <a:custGeom>
            <a:avLst/>
            <a:gdLst/>
            <a:ahLst/>
            <a:cxnLst/>
            <a:rect r="r" b="b" t="t" l="l"/>
            <a:pathLst>
              <a:path h="836261" w="1997953">
                <a:moveTo>
                  <a:pt x="0" y="0"/>
                </a:moveTo>
                <a:lnTo>
                  <a:pt x="1997953" y="0"/>
                </a:lnTo>
                <a:lnTo>
                  <a:pt x="1997953" y="836262"/>
                </a:lnTo>
                <a:lnTo>
                  <a:pt x="0" y="8362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265" t="-12750" r="-224403" b="-3204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875003" y="4910434"/>
            <a:ext cx="2152650" cy="798244"/>
          </a:xfrm>
          <a:custGeom>
            <a:avLst/>
            <a:gdLst/>
            <a:ahLst/>
            <a:cxnLst/>
            <a:rect r="r" b="b" t="t" l="l"/>
            <a:pathLst>
              <a:path h="798244" w="2152650">
                <a:moveTo>
                  <a:pt x="0" y="0"/>
                </a:moveTo>
                <a:lnTo>
                  <a:pt x="2152650" y="0"/>
                </a:lnTo>
                <a:lnTo>
                  <a:pt x="2152650" y="798243"/>
                </a:lnTo>
                <a:lnTo>
                  <a:pt x="0" y="7982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03307" t="-18120" r="-101741" b="-3357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075278" y="4872416"/>
            <a:ext cx="2152650" cy="798244"/>
          </a:xfrm>
          <a:custGeom>
            <a:avLst/>
            <a:gdLst/>
            <a:ahLst/>
            <a:cxnLst/>
            <a:rect r="r" b="b" t="t" l="l"/>
            <a:pathLst>
              <a:path h="798244" w="2152650">
                <a:moveTo>
                  <a:pt x="0" y="0"/>
                </a:moveTo>
                <a:lnTo>
                  <a:pt x="2152650" y="0"/>
                </a:lnTo>
                <a:lnTo>
                  <a:pt x="2152650" y="798244"/>
                </a:lnTo>
                <a:lnTo>
                  <a:pt x="0" y="7982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9904" t="-19764" r="-2509" b="-4645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8924285" y="8184605"/>
            <a:ext cx="2402789" cy="2100075"/>
          </a:xfrm>
          <a:custGeom>
            <a:avLst/>
            <a:gdLst/>
            <a:ahLst/>
            <a:cxnLst/>
            <a:rect r="r" b="b" t="t" l="l"/>
            <a:pathLst>
              <a:path h="2100075" w="2402789">
                <a:moveTo>
                  <a:pt x="0" y="0"/>
                </a:moveTo>
                <a:lnTo>
                  <a:pt x="2402789" y="0"/>
                </a:lnTo>
                <a:lnTo>
                  <a:pt x="2402789" y="2100075"/>
                </a:lnTo>
                <a:lnTo>
                  <a:pt x="0" y="2100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290743" y="154280"/>
            <a:ext cx="12132187" cy="1117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89"/>
              </a:lnSpc>
            </a:pPr>
            <a:r>
              <a:rPr lang="en-US" b="true" sz="6635">
                <a:solidFill>
                  <a:srgbClr val="002B58"/>
                </a:solidFill>
                <a:latin typeface="Inter Bold"/>
                <a:ea typeface="Inter Bold"/>
                <a:cs typeface="Inter Bold"/>
                <a:sym typeface="Inter Bold"/>
              </a:rPr>
              <a:t>RESULT &amp; CONCLUSION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6064" y="1621130"/>
            <a:ext cx="7633971" cy="23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Results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proposed AI-based campus navigation system uses the A* Search Algorithm to identify an optimal route between two selected campus locations. The system provides a clear and interactive way to navigate through the campus.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-1108292" y="4316791"/>
            <a:ext cx="789410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2B58"/>
                </a:solidFill>
                <a:latin typeface="Inter Bold"/>
                <a:ea typeface="Inter Bold"/>
                <a:cs typeface="Inter Bold"/>
                <a:sym typeface="Inter Bold"/>
              </a:rPr>
              <a:t>Performance Metrics (Sample)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16958" y="7384186"/>
            <a:ext cx="1731838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2B58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95931" y="7911565"/>
            <a:ext cx="7834486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2B58"/>
                </a:solidFill>
                <a:latin typeface="Inter"/>
                <a:ea typeface="Inter"/>
                <a:cs typeface="Inter"/>
                <a:sym typeface="Inter"/>
              </a:rPr>
              <a:t>The proposed AI-based campus navigation system using A* provides an efficient approach to solving campus pathfinding problems. By representing the campus as a graph and intelligently evaluating possible routes, the system can help users find suitable paths between different locations.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983931" y="1604932"/>
            <a:ext cx="428349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Outcomes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519906" y="2476595"/>
            <a:ext cx="2141749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Optimal Route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Finds the shortest or least-cost path between the selected locations.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519906" y="4072917"/>
            <a:ext cx="2141749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Efficient Navigation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Reduces the effort and time required to manually determine a route.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519906" y="5670577"/>
            <a:ext cx="2403819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Interactive Map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Provides a visual representation of campus locations and the calculated route.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862159" y="7434870"/>
            <a:ext cx="852704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Future Scope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583868" y="8194130"/>
            <a:ext cx="6003354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Real-time navigation with GPS integration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Multi-floor navigation for large buildings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Dynamic updates for blocked or restricted pathways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Integration with college apps and campus information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Voice-guided navigation for improved accessibility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02178" y="5777422"/>
            <a:ext cx="1874128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450 m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Total distance of optimal route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152416" y="5777422"/>
            <a:ext cx="1597824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5 min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Estimated travel time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110898" y="5713003"/>
            <a:ext cx="2003383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7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Nodes explored in the optimal path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DAHWi1q32do</dc:identifier>
  <dcterms:modified xsi:type="dcterms:W3CDTF">2011-08-01T06:04:30Z</dcterms:modified>
  <cp:revision>1</cp:revision>
  <dc:title>Blue Modern Elegant Presentation</dc:title>
</cp:coreProperties>
</file>